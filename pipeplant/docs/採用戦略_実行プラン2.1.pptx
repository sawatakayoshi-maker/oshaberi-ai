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24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5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澤 隆吉" userId="aa942c33-7bc0-4144-a2ad-9fde9f680122" providerId="ADAL" clId="{ECCE580C-7D20-493E-BD1A-E0EADC80C82C}"/>
    <pc:docChg chg="modSld">
      <pc:chgData name="澤 隆吉" userId="aa942c33-7bc0-4144-a2ad-9fde9f680122" providerId="ADAL" clId="{ECCE580C-7D20-493E-BD1A-E0EADC80C82C}" dt="2026-06-12T13:05:05.868" v="1" actId="20577"/>
      <pc:docMkLst>
        <pc:docMk/>
      </pc:docMkLst>
      <pc:sldChg chg="modSp mod">
        <pc:chgData name="澤 隆吉" userId="aa942c33-7bc0-4144-a2ad-9fde9f680122" providerId="ADAL" clId="{ECCE580C-7D20-493E-BD1A-E0EADC80C82C}" dt="2026-06-12T13:05:05.868" v="1" actId="20577"/>
        <pc:sldMkLst>
          <pc:docMk/>
          <pc:sldMk cId="0" sldId="257"/>
        </pc:sldMkLst>
        <pc:spChg chg="mod">
          <ac:chgData name="澤 隆吉" userId="aa942c33-7bc0-4144-a2ad-9fde9f680122" providerId="ADAL" clId="{ECCE580C-7D20-493E-BD1A-E0EADC80C82C}" dt="2026-06-12T13:05:05.868" v="1" actId="20577"/>
          <ac:spMkLst>
            <pc:docMk/>
            <pc:sldMk cId="0" sldId="257"/>
            <ac:spMk id="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29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1051560"/>
            <a:ext cx="1048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2EC4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社内経営者向け ／ 採用戦略（2026年6月改訂版）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53440" y="1600200"/>
            <a:ext cx="10485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コストを抑えて人材を確保する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実行プラン 2.1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3440" y="3383280"/>
            <a:ext cx="1048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C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SNS（TikTok・Instagram・YouTube・X）→ 自社採用ページ誘導の設計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C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 無料求人チャネル ＋ 助成金でコスト回収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3440" y="4572000"/>
            <a:ext cx="2438400" cy="566928"/>
          </a:xfrm>
          <a:prstGeom prst="roundRect">
            <a:avLst>
              <a:gd name="adj" fmla="val 12903"/>
            </a:avLst>
          </a:prstGeom>
          <a:solidFill>
            <a:srgbClr val="16486F"/>
          </a:solidFill>
          <a:ln/>
        </p:spPr>
      </p:sp>
      <p:sp>
        <p:nvSpPr>
          <p:cNvPr id="6" name="Text 4"/>
          <p:cNvSpPr/>
          <p:nvPr/>
        </p:nvSpPr>
        <p:spPr>
          <a:xfrm>
            <a:off x="853440" y="4572000"/>
            <a:ext cx="243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無料チャネル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35680" y="4572000"/>
            <a:ext cx="2438400" cy="566928"/>
          </a:xfrm>
          <a:prstGeom prst="roundRect">
            <a:avLst>
              <a:gd name="adj" fmla="val 12903"/>
            </a:avLst>
          </a:prstGeom>
          <a:solidFill>
            <a:srgbClr val="16486F"/>
          </a:solidFill>
          <a:ln/>
        </p:spPr>
      </p:sp>
      <p:sp>
        <p:nvSpPr>
          <p:cNvPr id="8" name="Text 6"/>
          <p:cNvSpPr/>
          <p:nvPr/>
        </p:nvSpPr>
        <p:spPr>
          <a:xfrm>
            <a:off x="3535680" y="4572000"/>
            <a:ext cx="243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SNS発信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4572000"/>
            <a:ext cx="2438400" cy="566928"/>
          </a:xfrm>
          <a:prstGeom prst="roundRect">
            <a:avLst>
              <a:gd name="adj" fmla="val 12903"/>
            </a:avLst>
          </a:prstGeom>
          <a:solidFill>
            <a:srgbClr val="16486F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4572000"/>
            <a:ext cx="243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自社HPハブ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00160" y="4572000"/>
            <a:ext cx="2438400" cy="566928"/>
          </a:xfrm>
          <a:prstGeom prst="roundRect">
            <a:avLst>
              <a:gd name="adj" fmla="val 12903"/>
            </a:avLst>
          </a:prstGeom>
          <a:solidFill>
            <a:srgbClr val="16486F"/>
          </a:solidFill>
          <a:ln/>
        </p:spPr>
      </p:sp>
      <p:sp>
        <p:nvSpPr>
          <p:cNvPr id="12" name="Text 10"/>
          <p:cNvSpPr/>
          <p:nvPr/>
        </p:nvSpPr>
        <p:spPr>
          <a:xfrm>
            <a:off x="8900160" y="4572000"/>
            <a:ext cx="2438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助成金回収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3440" y="5623560"/>
            <a:ext cx="1048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株式会社パイプラント（ナカテックグループ）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3440" y="6035040"/>
            <a:ext cx="1048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8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本資料は公開情報・公的制度（厚生労働省ほか）および同梱ホームページ一式の実機検証に基づき作成。金額・要件は最新の公式情報での確認を前提とします。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結論：低コスト採用は「可能」。</a:t>
            </a:r>
            <a:r>
              <a:rPr lang="en-US" sz="2400" b="1" dirty="0" err="1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ただし前提条件がある</a:t>
            </a:r>
            <a:r>
              <a:rPr lang="ja-JP" alt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本プランの結論を先に示します。詳細は各ページで根拠とともに説明します。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1371600"/>
            <a:ext cx="10972800" cy="1444752"/>
          </a:xfrm>
          <a:prstGeom prst="roundRect">
            <a:avLst>
              <a:gd name="adj" fmla="val 4430"/>
            </a:avLst>
          </a:prstGeom>
          <a:solidFill>
            <a:srgbClr val="EFF8F4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828800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50720" y="1499616"/>
            <a:ext cx="938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実費0円の採用は成立する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950720" y="1920240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ハローワーク＋engage/Airワーク（Indeed自動連携）＋自社採用ページ＋SNSの組み合わせで、掲載実費は0円。コストは社内工数のみ。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9600" y="2999232"/>
            <a:ext cx="10972800" cy="1444752"/>
          </a:xfrm>
          <a:prstGeom prst="roundRect">
            <a:avLst>
              <a:gd name="adj" fmla="val 4430"/>
            </a:avLst>
          </a:prstGeom>
          <a:solidFill>
            <a:srgbClr val="FDF3F2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3456432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50720" y="3127248"/>
            <a:ext cx="938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3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 HPの“受け皿”は更新版サイト（同梱）で整備済み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950720" y="3547872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実機検証で6つの問題（募集要項空欄・フォーム送信不能 等）を確認。技術面はすべて更新版サイトに実装済みで、残るは募集条件の確定と無料サービスの登録のみ。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9600" y="4626864"/>
            <a:ext cx="10972800" cy="1444752"/>
          </a:xfrm>
          <a:prstGeom prst="roundRect">
            <a:avLst>
              <a:gd name="adj" fmla="val 4430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5084064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50720" y="4754880"/>
            <a:ext cx="938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 順序が成否を分ける：「受け皿が先、集客は後」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950720" y="5175504"/>
            <a:ext cx="9326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HP設定（1〜2日・0円）→ 無料掲載 → SNS発信開始、の順で実行。SNSは動画1本を4媒体に使い回し、全リンクを採用ページに集約する。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09600" y="64190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出典：HP検証＝同梱サイト一式（更新前版）recruit.html／assets/config.js 等の実ファイル確認（2026年6月）。指摘への対応は同梱の更新版サイト（v6）に実装済み。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課題と基本方針 ─ 4つの柱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「採用に大きな費用はかけられない。しかし事業を担う人材は確実に確保したい。」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1481328"/>
            <a:ext cx="5303520" cy="1874520"/>
          </a:xfrm>
          <a:prstGeom prst="roundRect">
            <a:avLst>
              <a:gd name="adj" fmla="val 3415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" y="1719072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1264" y="16642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　無料チャネルの最大活用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50976" y="2395728"/>
            <a:ext cx="469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ハローワーク・engage/Airワーク経由のIndeed掲載・Googleしごと検索。すべて掲載無料。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78880" y="1481328"/>
            <a:ext cx="5303520" cy="1874520"/>
          </a:xfrm>
          <a:prstGeom prst="roundRect">
            <a:avLst>
              <a:gd name="adj" fmla="val 3415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360" y="1719072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0544" y="16642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　SNSで“見えない仕事”を見せる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620256" y="2395728"/>
            <a:ext cx="469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TikTok・Instagram・YouTube・Xの4媒体に動画1本を展開。現場と人を見せて指名応募をつくる。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9600" y="3538728"/>
            <a:ext cx="5303520" cy="1874520"/>
          </a:xfrm>
          <a:prstGeom prst="roundRect">
            <a:avLst>
              <a:gd name="adj" fmla="val 3415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" y="3776472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1264" y="37216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　自社採用ページを唯一のゴールに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50976" y="4453128"/>
            <a:ext cx="469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全チャネルのリンクを採用ページに集約。応募・問い合わせの受け皿として整備（修正5点）。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78880" y="3538728"/>
            <a:ext cx="5303520" cy="1874520"/>
          </a:xfrm>
          <a:prstGeom prst="roundRect">
            <a:avLst>
              <a:gd name="adj" fmla="val 3415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360" y="3776472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0544" y="37216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　採用・育成コストは助成金で回収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620256" y="4453128"/>
            <a:ext cx="469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トライアル雇用・特定求職者・人材開発支援。ハローワーク経由が条件のため起点はHW。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09600" y="5650992"/>
            <a:ext cx="10972800" cy="658368"/>
          </a:xfrm>
          <a:prstGeom prst="roundRect">
            <a:avLst>
              <a:gd name="adj" fmla="val 9722"/>
            </a:avLst>
          </a:prstGeom>
          <a:solidFill>
            <a:srgbClr val="0E3A5D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" y="5650992"/>
            <a:ext cx="1048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起点はハローワーク（掲載無料・助成金の条件）。</a:t>
            </a: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ゴールは自社採用ページ（全SNS・全チャネルの誘導先）。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市場環境：福井は「全国一の売り手市場」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待っていても応募は来ない前提で打ち手を設計します。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3413760" cy="1783080"/>
          </a:xfrm>
          <a:prstGeom prst="roundRect">
            <a:avLst>
              <a:gd name="adj" fmla="val 3590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9600" y="1627632"/>
            <a:ext cx="341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1.20倍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92480" y="2432304"/>
            <a:ext cx="304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全国平均の有効求人倍率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（令和7年度平均・厚労省）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413760" cy="1783080"/>
          </a:xfrm>
          <a:prstGeom prst="roundRect">
            <a:avLst>
              <a:gd name="adj" fmla="val 3590"/>
            </a:avLst>
          </a:prstGeom>
          <a:solidFill>
            <a:srgbClr val="0E3A5D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627632"/>
            <a:ext cx="341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1.93倍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2432304"/>
            <a:ext cx="304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福井県の有効求人倍率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（就業地別・2024年9月）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68640" y="1463040"/>
            <a:ext cx="3413760" cy="1783080"/>
          </a:xfrm>
          <a:prstGeom prst="roundRect">
            <a:avLst>
              <a:gd name="adj" fmla="val 3590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68640" y="1627632"/>
            <a:ext cx="341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78か月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51520" y="2432304"/>
            <a:ext cx="304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連続で都道府県別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全国1位（同時点）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5204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建設系職種はさらに厳しく、電気工事士は約3.8倍（全国・2025年6月）。配管・プラントも同水準の獲得競争を想定し、「間口を広げる ＋ 強みを訴求 ＋ 無料チャネル活用」で勝負します。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600" y="4434840"/>
            <a:ext cx="10972800" cy="1463040"/>
          </a:xfrm>
          <a:prstGeom prst="roundRect">
            <a:avLst>
              <a:gd name="adj" fmla="val 4375"/>
            </a:avLst>
          </a:prstGeom>
          <a:solidFill>
            <a:srgbClr val="F2F7F9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457200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募集が動く時期（建設業の一般的傾向）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4983480"/>
            <a:ext cx="1030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ピーク：3〜4月（年度替わり）・9〜10月（下期開始）　／　低調：8月・12月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次の山（9〜10月）に向け、6〜7月中に「HP修正＋無料掲載＋SNS開設」を完了させる。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600" y="64190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出典：厚生労働省「一般職業紹介状況（令和7年度）」mhlw.go.jp ／ 福井1.93倍・78か月連続全国1位：福井労働局発表（福井新聞 2024/10/30）fukuishimbun.co.jp ／ 電気工事士約3.8倍：denko-saiyo.com（2026/2）。時期は一般的傾向（参考値）。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全体設計図：すべての道を「自社採用ページ」につなぐ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SNS・求人チャネルの全リンクを採用ページ1か所に集約し、応募までの動線を一本化します。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1508760"/>
            <a:ext cx="2584704" cy="73152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64" y="16733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65504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TikTok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38144" y="1508760"/>
            <a:ext cx="2584704" cy="731520"/>
          </a:xfrm>
          <a:prstGeom prst="roundRect">
            <a:avLst>
              <a:gd name="adj" fmla="val 10000"/>
            </a:avLst>
          </a:prstGeom>
          <a:solidFill>
            <a:srgbClr val="C13584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167335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94048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66688" y="1508760"/>
            <a:ext cx="2584704" cy="731520"/>
          </a:xfrm>
          <a:prstGeom prst="roundRect">
            <a:avLst>
              <a:gd name="adj" fmla="val 10000"/>
            </a:avLst>
          </a:prstGeom>
          <a:solidFill>
            <a:srgbClr val="CC0000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152" y="1673352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22592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YouTube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9095232" y="1508760"/>
            <a:ext cx="2584704" cy="731520"/>
          </a:xfrm>
          <a:prstGeom prst="roundRect">
            <a:avLst>
              <a:gd name="adj" fmla="val 10000"/>
            </a:avLst>
          </a:prstGeom>
          <a:solidFill>
            <a:srgbClr val="14171A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8696" y="167335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851136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X（旧Twitter）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09600" y="2331720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プロフィール／固定投稿のリンク（UTM付き）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09600" y="2743200"/>
            <a:ext cx="2584704" cy="658368"/>
          </a:xfrm>
          <a:prstGeom prst="roundRect">
            <a:avLst>
              <a:gd name="adj" fmla="val 11111"/>
            </a:avLst>
          </a:prstGeom>
          <a:solidFill>
            <a:srgbClr val="F2F7F9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707136" y="2743200"/>
            <a:ext cx="2389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ハローワーク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438144" y="2743200"/>
            <a:ext cx="2584704" cy="658368"/>
          </a:xfrm>
          <a:prstGeom prst="roundRect">
            <a:avLst>
              <a:gd name="adj" fmla="val 11111"/>
            </a:avLst>
          </a:prstGeom>
          <a:solidFill>
            <a:srgbClr val="F2F7F9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535680" y="2743200"/>
            <a:ext cx="2389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Indeed（engage/Airワーク連携）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66688" y="2743200"/>
            <a:ext cx="2584704" cy="658368"/>
          </a:xfrm>
          <a:prstGeom prst="roundRect">
            <a:avLst>
              <a:gd name="adj" fmla="val 11111"/>
            </a:avLst>
          </a:prstGeom>
          <a:solidFill>
            <a:srgbClr val="F2F7F9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364224" y="2743200"/>
            <a:ext cx="2389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Googleしごと検索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095232" y="2743200"/>
            <a:ext cx="2584704" cy="658368"/>
          </a:xfrm>
          <a:prstGeom prst="roundRect">
            <a:avLst>
              <a:gd name="adj" fmla="val 11111"/>
            </a:avLst>
          </a:prstGeom>
          <a:solidFill>
            <a:srgbClr val="F2F7F9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192768" y="2743200"/>
            <a:ext cx="2389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紹介・地縁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5208" y="3529584"/>
            <a:ext cx="457200" cy="4572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828800" y="4114800"/>
            <a:ext cx="8534400" cy="960120"/>
          </a:xfrm>
          <a:prstGeom prst="roundRect">
            <a:avLst>
              <a:gd name="adj" fmla="val 8571"/>
            </a:avLst>
          </a:prstGeom>
          <a:solidFill>
            <a:srgbClr val="0E3A5D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1828800" y="4224528"/>
            <a:ext cx="853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自社採用ページ（recruit.html）＝ 唯一のゴール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1828800" y="4645152"/>
            <a:ext cx="853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募集要項・現場写真・FAQ・応募フォームをここに集約（仕組みは更新版サイトに実装済み）</a:t>
            </a:r>
            <a:endParaRPr lang="en-US" sz="12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5208" y="5193792"/>
            <a:ext cx="457200" cy="45720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3657600" y="5760720"/>
            <a:ext cx="4876800" cy="603504"/>
          </a:xfrm>
          <a:prstGeom prst="roundRect">
            <a:avLst>
              <a:gd name="adj" fmla="val 13636"/>
            </a:avLst>
          </a:prstGeom>
          <a:solidFill>
            <a:srgbClr val="2EC4B6"/>
          </a:solidFill>
          <a:ln/>
        </p:spPr>
      </p:sp>
      <p:sp>
        <p:nvSpPr>
          <p:cNvPr id="31" name="Text 23"/>
          <p:cNvSpPr/>
          <p:nvPr/>
        </p:nvSpPr>
        <p:spPr>
          <a:xfrm>
            <a:off x="3657600" y="5760720"/>
            <a:ext cx="4876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応募・お問い合わせ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SNS設計①：動画は「1本撮って4媒体に使い回す」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工数を最小化する運用。週1本の縦型動画（30〜60秒）を撮影し、同じ素材を全媒体へ同時投稿します。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1481328"/>
            <a:ext cx="3535680" cy="3017520"/>
          </a:xfrm>
          <a:prstGeom prst="roundRect">
            <a:avLst>
              <a:gd name="adj" fmla="val 2759"/>
            </a:avLst>
          </a:prstGeom>
          <a:solidFill>
            <a:srgbClr val="0E3A5D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7830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2468880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週1本の縦型動画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907792"/>
            <a:ext cx="304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ネタは3本柱を順番に：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現場の一枚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社員の手元（技術）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水素の取り組み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67200" y="2971800"/>
            <a:ext cx="73152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20640" y="1481328"/>
            <a:ext cx="6461760" cy="676656"/>
          </a:xfrm>
          <a:prstGeom prst="roundRect">
            <a:avLst>
              <a:gd name="adj" fmla="val 9459"/>
            </a:avLst>
          </a:prstGeom>
          <a:solidFill>
            <a:srgbClr val="F2F7F9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85816" y="1609344"/>
            <a:ext cx="420624" cy="420624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684" y="1696212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35040" y="1536192"/>
            <a:ext cx="542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TikTok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035040" y="1819656"/>
            <a:ext cx="542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そのまま投稿。コメント欄に採用ページURLを自分で固定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120640" y="2258568"/>
            <a:ext cx="6461760" cy="676656"/>
          </a:xfrm>
          <a:prstGeom prst="roundRect">
            <a:avLst>
              <a:gd name="adj" fmla="val 9459"/>
            </a:avLst>
          </a:prstGeom>
          <a:solidFill>
            <a:srgbClr val="F2F7F9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85816" y="2386584"/>
            <a:ext cx="420624" cy="420624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684" y="2473452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313432"/>
            <a:ext cx="542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Instagram リール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035040" y="2596896"/>
            <a:ext cx="542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同素材を投稿。ストーリーズにリンクスタンプで誘導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120640" y="3035808"/>
            <a:ext cx="6461760" cy="676656"/>
          </a:xfrm>
          <a:prstGeom prst="roundRect">
            <a:avLst>
              <a:gd name="adj" fmla="val 9459"/>
            </a:avLst>
          </a:prstGeom>
          <a:solidFill>
            <a:srgbClr val="F2F7F9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85816" y="3163824"/>
            <a:ext cx="420624" cy="420624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684" y="3250692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35040" y="3090672"/>
            <a:ext cx="542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YouTube ショート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035040" y="3374136"/>
            <a:ext cx="542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同素材を投稿。概要欄＋固定コメントにURL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120640" y="3813048"/>
            <a:ext cx="6461760" cy="676656"/>
          </a:xfrm>
          <a:prstGeom prst="roundRect">
            <a:avLst>
              <a:gd name="adj" fmla="val 9459"/>
            </a:avLst>
          </a:prstGeom>
          <a:solidFill>
            <a:srgbClr val="F2F7F9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85816" y="3941064"/>
            <a:ext cx="420624" cy="420624"/>
          </a:xfrm>
          <a:prstGeom prst="ellipse">
            <a:avLst/>
          </a:prstGeom>
          <a:solidFill>
            <a:srgbClr val="14171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2684" y="4027932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35040" y="3867912"/>
            <a:ext cx="542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X（旧Twitter）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035040" y="4151376"/>
            <a:ext cx="542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動画＋本文にURLを直接記載して投稿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09600" y="4736592"/>
            <a:ext cx="10972800" cy="1417320"/>
          </a:xfrm>
          <a:prstGeom prst="roundRect">
            <a:avLst>
              <a:gd name="adj" fmla="val 4516"/>
            </a:avLst>
          </a:prstGeom>
          <a:solidFill>
            <a:srgbClr val="EFF8F4"/>
          </a:solidFill>
          <a:ln/>
        </p:spPr>
      </p:sp>
      <p:sp>
        <p:nvSpPr>
          <p:cNvPr id="30" name="Text 23"/>
          <p:cNvSpPr/>
          <p:nvPr/>
        </p:nvSpPr>
        <p:spPr>
          <a:xfrm>
            <a:off x="950976" y="4864608"/>
            <a:ext cx="1036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運用ルール（固定）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950976" y="5212080"/>
            <a:ext cx="1030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動画の最後は毎回同じ一言：「採用情報はプロフィールのリンクから」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顔出しは同意者のみ・現場撮影は元請/安全ルールの事前確認を徹底（炎上・契約リスク回避）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週1本を3か月継続して判定。伸びた媒体に工数を寄せる（4媒体同時はあくまで“配信”であり、運用負荷は1本分）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SNS設計②：媒体別の「HPへ誘導する」設定方法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各SNSはリンク設置の仕様・制約が異なります。下記をアカウント開設時に必ず設定します。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463040"/>
          <a:ext cx="10972800" cy="308152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媒体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リンク設置場所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条件・注意点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TikTok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プロフィールの「ウェブサイト」欄（1本）＋各動画の固定コメント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ビジネスアカウント（無料）への切替が必要。情報源によりフォロワー1,000人以上を条件とする記載もあり、開設後に実機で確認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Instagram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プロフィールのリンク＋ストーリーズの「リンクスタンプ」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リンクスタンプは現在フォロワー数の条件なく利用可。プロアカウント（無料）に切替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YouTube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動画の概要欄・固定コメント・チャンネル概要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概要欄リンクは制限なし。ショート動画でも固定コメントでURL誘導可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X（旧Twitter）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プロフィール欄＋固定ポスト＋各投稿本文にURL記載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投稿本文にURLを直接書ける唯一の媒体。採用告知は固定ポスト化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4937760"/>
            <a:ext cx="10972800" cy="1234440"/>
          </a:xfrm>
          <a:prstGeom prst="roundRect">
            <a:avLst>
              <a:gd name="adj" fmla="val 5185"/>
            </a:avLst>
          </a:prstGeom>
          <a:solidFill>
            <a:srgbClr val="F2F7F9"/>
          </a:solidFill>
          <a:ln/>
        </p:spPr>
      </p:sp>
      <p:sp>
        <p:nvSpPr>
          <p:cNvPr id="6" name="Text 3"/>
          <p:cNvSpPr/>
          <p:nvPr/>
        </p:nvSpPr>
        <p:spPr>
          <a:xfrm>
            <a:off x="950976" y="5065776"/>
            <a:ext cx="1036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リンクは全媒体共通で「UTMパラメータ付き採用ページURL」に統一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50976" y="5431536"/>
            <a:ext cx="1030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例：https://（自社ドメイン）/recruit.html?utm_source=tiktok&amp;utm_medium=social&amp;utm_campaign=recruit2026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どのSNSから何人来て何人応募したかをGA4で経路別に計測できる（効果測定ページ参照）。</a:t>
            </a:r>
            <a:endParaRPr lang="en-US" sz="1250" dirty="0"/>
          </a:p>
        </p:txBody>
      </p:sp>
      <p:sp>
        <p:nvSpPr>
          <p:cNvPr id="4" name="Text 5"/>
          <p:cNvSpPr/>
          <p:nvPr/>
        </p:nvSpPr>
        <p:spPr>
          <a:xfrm>
            <a:off x="609600" y="64190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出典：TikTokリンク条件：Shopify日本 shopify.com/jp/blog/how-to-add-link-to-tiktok-bio ほか（2026/6時点・仕様変更あり得るため開設時に実機確認）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現状HP検証：このままではSNS誘導が「空振り」する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更新前のホームページ一式（全12ページ）を実機検証した結果、6つの問題を確認しました。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1627632"/>
            <a:ext cx="5303520" cy="1225296"/>
          </a:xfrm>
          <a:prstGeom prst="roundRect">
            <a:avLst>
              <a:gd name="adj" fmla="val 5224"/>
            </a:avLst>
          </a:prstGeom>
          <a:solidFill>
            <a:srgbClr val="FDF3F2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02208" y="1737360"/>
            <a:ext cx="481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募集要項が空欄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02208" y="2084832"/>
            <a:ext cx="477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職種・給与・勤務時間・休日・福利厚生が「後日掲載」（5箇所）。応募判断に必要な情報がない。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880" y="1627632"/>
            <a:ext cx="5303520" cy="1225296"/>
          </a:xfrm>
          <a:prstGeom prst="roundRect">
            <a:avLst>
              <a:gd name="adj" fmla="val 5224"/>
            </a:avLst>
          </a:prstGeom>
          <a:solidFill>
            <a:srgbClr val="FDF3F2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71488" y="1737360"/>
            <a:ext cx="481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応募フォームが送信不能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71488" y="2084832"/>
            <a:ext cx="477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送信先（formEndpoint）が未設定＝入力しても届かない。SNSから誘導しても応募を受け取れない。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" y="2999232"/>
            <a:ext cx="5303520" cy="1225296"/>
          </a:xfrm>
          <a:prstGeom prst="roundRect">
            <a:avLst>
              <a:gd name="adj" fmla="val 5224"/>
            </a:avLst>
          </a:prstGeom>
          <a:solidFill>
            <a:srgbClr val="FDF3F2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2208" y="3108960"/>
            <a:ext cx="481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SNSリンクが未設定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02208" y="3456432"/>
            <a:ext cx="477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Instagram欄は空。TikTok・YouTube・Xはリンク欄自体が存在せず、HP⇄SNSの相互導線がない。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8880" y="2999232"/>
            <a:ext cx="5303520" cy="1225296"/>
          </a:xfrm>
          <a:prstGeom prst="roundRect">
            <a:avLst>
              <a:gd name="adj" fmla="val 5224"/>
            </a:avLst>
          </a:prstGeom>
          <a:solidFill>
            <a:srgbClr val="FDF3F2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71488" y="3108960"/>
            <a:ext cx="481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Googleしごと検索に未対応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71488" y="3456432"/>
            <a:ext cx="477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掲載必須のJobPosting構造化データが全ページ未実装。「無料で検索上位表示」が現状は実現しない。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600" y="4370832"/>
            <a:ext cx="5303520" cy="1225296"/>
          </a:xfrm>
          <a:prstGeom prst="roundRect">
            <a:avLst>
              <a:gd name="adj" fmla="val 5224"/>
            </a:avLst>
          </a:prstGeom>
          <a:solidFill>
            <a:srgbClr val="FDF3F2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2208" y="4480560"/>
            <a:ext cx="481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効果測定が不可能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2208" y="4828032"/>
            <a:ext cx="477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アクセス解析（GA）が未設定。どのSNSが効いたか判定できず、改善が回らない。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880" y="4370832"/>
            <a:ext cx="5303520" cy="1225296"/>
          </a:xfrm>
          <a:prstGeom prst="roundRect">
            <a:avLst>
              <a:gd name="adj" fmla="val 5224"/>
            </a:avLst>
          </a:prstGeom>
          <a:solidFill>
            <a:srgbClr val="FDF3F2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71488" y="4480560"/>
            <a:ext cx="481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SNS共有時に画像が出ない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71488" y="4828032"/>
            <a:ext cx="477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og:image未設定。URLをSNSに貼ってもサムネイルが表示されず、クリック率が大きく下がる。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600" y="5870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いずれも修正5点（すべて実費0円）の対象。仕組みは更新版サイト（v6）に実装済みで、残るは「値の入力」のみ（10ページ参照）。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9600" y="64190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出典：更新前サイトの recruit.html（「後日掲載」5箇所）／assets/config.js（formEndpoint・instagramUrl・gaId すべて空）／全12HTMLにJobPosting・og:imageなし（2026年6月 実ファイル確認）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HP必須修正5点（実費0円・仕組みは実装済み）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①は経営判断が必要です。②〜⑤は更新版サイトに実装済みのため、管理画面から値を入力するだけで有効になります。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1481328"/>
            <a:ext cx="10972800" cy="786384"/>
          </a:xfrm>
          <a:prstGeom prst="roundRect">
            <a:avLst>
              <a:gd name="adj" fmla="val 8140"/>
            </a:avLst>
          </a:prstGeom>
          <a:solidFill>
            <a:srgbClr val="F2F7F9"/>
          </a:solidFill>
          <a:ln w="12700">
            <a:solidFill>
              <a:srgbClr val="D7E2E8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7928" y="1664208"/>
            <a:ext cx="420624" cy="420624"/>
          </a:xfrm>
          <a:prstGeom prst="ellipse">
            <a:avLst/>
          </a:prstGeom>
          <a:solidFill>
            <a:srgbClr val="0E3A5D"/>
          </a:solidFill>
          <a:ln/>
        </p:spPr>
      </p:sp>
      <p:sp>
        <p:nvSpPr>
          <p:cNvPr id="6" name="Text 4"/>
          <p:cNvSpPr/>
          <p:nvPr/>
        </p:nvSpPr>
        <p:spPr>
          <a:xfrm>
            <a:off x="947928" y="16642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8112" y="1554480"/>
            <a:ext cx="487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募集要項の確定・掲載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58112" y="18745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給与・休日・勤務時間・未経験可否を確定し「後日掲載」を一掃。応募判断材料を揃える。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814560" y="15544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72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経営＋採用担当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9600" y="2368296"/>
            <a:ext cx="1097280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47928" y="2551176"/>
            <a:ext cx="420624" cy="420624"/>
          </a:xfrm>
          <a:prstGeom prst="ellipse">
            <a:avLst/>
          </a:prstGeom>
          <a:solidFill>
            <a:srgbClr val="0E3A5D"/>
          </a:solidFill>
          <a:ln/>
        </p:spPr>
      </p:sp>
      <p:sp>
        <p:nvSpPr>
          <p:cNvPr id="12" name="Text 10"/>
          <p:cNvSpPr/>
          <p:nvPr/>
        </p:nvSpPr>
        <p:spPr>
          <a:xfrm>
            <a:off x="947928" y="25511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58112" y="2441448"/>
            <a:ext cx="487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応募フォームの開通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58112" y="27614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送信先（Formspree等の無料枠）のURLを管理画面に入力するだけで開通。3項目の応募専用フォームは実装済み。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814560" y="24414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72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実装済み・設定のみ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9600" y="3255264"/>
            <a:ext cx="1097280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7928" y="3438144"/>
            <a:ext cx="420624" cy="420624"/>
          </a:xfrm>
          <a:prstGeom prst="ellipse">
            <a:avLst/>
          </a:prstGeom>
          <a:solidFill>
            <a:srgbClr val="0E3A5D"/>
          </a:solidFill>
          <a:ln/>
        </p:spPr>
      </p:sp>
      <p:sp>
        <p:nvSpPr>
          <p:cNvPr id="18" name="Text 16"/>
          <p:cNvSpPr/>
          <p:nvPr/>
        </p:nvSpPr>
        <p:spPr>
          <a:xfrm>
            <a:off x="947928" y="3438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58112" y="3328416"/>
            <a:ext cx="487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JobPosting構造化データ実装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58112" y="3648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職種と掲載開始日を入力するとJSON-LDを自動生成する仕組みを実装済み。公開後にSearch Consoleで登録リクエスト。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814560" y="33284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72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実装済み・設定のみ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9600" y="4142232"/>
            <a:ext cx="1097280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7928" y="4325112"/>
            <a:ext cx="420624" cy="420624"/>
          </a:xfrm>
          <a:prstGeom prst="ellipse">
            <a:avLst/>
          </a:prstGeom>
          <a:solidFill>
            <a:srgbClr val="0E3A5D"/>
          </a:solidFill>
          <a:ln/>
        </p:spPr>
      </p:sp>
      <p:sp>
        <p:nvSpPr>
          <p:cNvPr id="24" name="Text 22"/>
          <p:cNvSpPr/>
          <p:nvPr/>
        </p:nvSpPr>
        <p:spPr>
          <a:xfrm>
            <a:off x="947928" y="43251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58112" y="4215384"/>
            <a:ext cx="487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SNSリンク＋og:image設定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58112" y="453542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4媒体のURLを入力するとフッターと採用ページに自動表示。共有用サムネイル（og:image）も設定済み。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814560" y="42153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72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実装済み・設定のみ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9600" y="5029200"/>
            <a:ext cx="1097280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47928" y="5212080"/>
            <a:ext cx="420624" cy="420624"/>
          </a:xfrm>
          <a:prstGeom prst="ellipse">
            <a:avLst/>
          </a:prstGeom>
          <a:solidFill>
            <a:srgbClr val="0E3A5D"/>
          </a:solidFill>
          <a:ln/>
        </p:spPr>
      </p:sp>
      <p:sp>
        <p:nvSpPr>
          <p:cNvPr id="30" name="Text 28"/>
          <p:cNvSpPr/>
          <p:nvPr/>
        </p:nvSpPr>
        <p:spPr>
          <a:xfrm>
            <a:off x="947928" y="5212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58112" y="5102352"/>
            <a:ext cx="487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GA4導入＋UTMルール統一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58112" y="54223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GA4測定IDを入力すると全ページで計測開始。流入元（UTM・参照元）は応募内容にも自動記録される。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14560" y="51023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72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実装済み・設定のみ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9600" y="603504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完了条件：①募集要項の正式版が採用ページに掲載　②テスト送信がメールで届く　③リッチリザルトテスト合格　④4リンク開通　⑤GA4で経路別レポートが見える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9600" y="64190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出典：Googleしごと検索の掲載にはJobPosting構造化データが必須：ジーピーオンライン gpol.co.jp/blog/213/ ／ テクニカルSEO BLOG technical-seo.jp（構造化データはページ表示内容との一致が必須）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同梱：更新版サイト（v6）で実装済みの仕組み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本資料に合わせてホームページを更新しました。管理画面（admin.html）から値を入力するだけで、以下がすべて動き出します。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1627632"/>
            <a:ext cx="5303520" cy="1225296"/>
          </a:xfrm>
          <a:prstGeom prst="roundRect">
            <a:avLst>
              <a:gd name="adj" fmla="val 5224"/>
            </a:avLst>
          </a:prstGeom>
          <a:solidFill>
            <a:srgbClr val="EFF8F4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02208" y="1737360"/>
            <a:ext cx="481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募集要項の自動反映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02208" y="2084832"/>
            <a:ext cx="477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管理画面で職種・給与等を入力すると採用ページに自動掲載。「後日掲載」が一掃される。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880" y="1627632"/>
            <a:ext cx="5303520" cy="1225296"/>
          </a:xfrm>
          <a:prstGeom prst="roundRect">
            <a:avLst>
              <a:gd name="adj" fmla="val 5224"/>
            </a:avLst>
          </a:prstGeom>
          <a:solidFill>
            <a:srgbClr val="EFF8F4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71488" y="1737360"/>
            <a:ext cx="481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応募フォーム（3項目）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71488" y="2084832"/>
            <a:ext cx="477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送信先URLを入れるだけで開通。未設定の間はメール送信に自動切替し、機会損失を防ぐ。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" y="2999232"/>
            <a:ext cx="5303520" cy="1225296"/>
          </a:xfrm>
          <a:prstGeom prst="roundRect">
            <a:avLst>
              <a:gd name="adj" fmla="val 5224"/>
            </a:avLst>
          </a:prstGeom>
          <a:solidFill>
            <a:srgbClr val="EFF8F4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2208" y="3108960"/>
            <a:ext cx="481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JobPosting自動生成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02208" y="3456432"/>
            <a:ext cx="477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職種＋掲載開始日の入力でGoogleしごと検索用データを自動出力。表示内容と常に一致。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8880" y="2999232"/>
            <a:ext cx="5303520" cy="1225296"/>
          </a:xfrm>
          <a:prstGeom prst="roundRect">
            <a:avLst>
              <a:gd name="adj" fmla="val 5224"/>
            </a:avLst>
          </a:prstGeom>
          <a:solidFill>
            <a:srgbClr val="EFF8F4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71488" y="3108960"/>
            <a:ext cx="481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SNSリンク＋og:image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71488" y="3456432"/>
            <a:ext cx="477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4媒体のURL入力でフッター・採用ページに自動表示。共有用サムネイルも設定済み。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600" y="4370832"/>
            <a:ext cx="5303520" cy="1225296"/>
          </a:xfrm>
          <a:prstGeom prst="roundRect">
            <a:avLst>
              <a:gd name="adj" fmla="val 5224"/>
            </a:avLst>
          </a:prstGeom>
          <a:solidFill>
            <a:srgbClr val="EFF8F4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2208" y="4480560"/>
            <a:ext cx="481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流入元の自動記録（NEW）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2208" y="4828032"/>
            <a:ext cx="477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UTM・参照元を応募・問い合わせ内容に自動添付。GA4なしでも「どのSNS経由か」が分かる。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880" y="4370832"/>
            <a:ext cx="5303520" cy="1225296"/>
          </a:xfrm>
          <a:prstGeom prst="roundRect">
            <a:avLst>
              <a:gd name="adj" fmla="val 5224"/>
            </a:avLst>
          </a:prstGeom>
          <a:solidFill>
            <a:srgbClr val="EFF8F4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71488" y="4480560"/>
            <a:ext cx="481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採用チャット連動（NEW）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71488" y="4828032"/>
            <a:ext cx="4779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案内チャットが入力済みの募集要項を自動案内。UTM付きSNSリンクは管理画面で生成。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600" y="5870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残る作業：①募集条件の入力（経営判断）　②フォーム送信先・GA4測定IDの無料発行　③SNSアカウント開設とURL入力。いずれも実費0円。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9600" y="64190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実装箇所：同梱 更新版サイト assets/site.js／admin.html／recruit.html ほか（2026年6月更新。詳細は同梱「更新内容_v6.md」参照）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無料の求人チャネル（優先順位）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掲載実費はすべて0円。SNSと並行して以下を立ち上げます。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1417320"/>
            <a:ext cx="109728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26592" y="1472184"/>
            <a:ext cx="853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ハローワーク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26592" y="1773936"/>
            <a:ext cx="902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掲載無料。坂井・福井エリアの窓口に求人申込み。助成金活用の起点になる。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119360" y="1572768"/>
            <a:ext cx="1219200" cy="384048"/>
          </a:xfrm>
          <a:prstGeom prst="roundRect">
            <a:avLst>
              <a:gd name="adj" fmla="val 19048"/>
            </a:avLst>
          </a:prstGeom>
          <a:solidFill>
            <a:srgbClr val="EFF8F4"/>
          </a:solidFill>
          <a:ln/>
        </p:spPr>
      </p:sp>
      <p:sp>
        <p:nvSpPr>
          <p:cNvPr id="8" name="Text 6"/>
          <p:cNvSpPr/>
          <p:nvPr/>
        </p:nvSpPr>
        <p:spPr>
          <a:xfrm>
            <a:off x="10119360" y="1572768"/>
            <a:ext cx="121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00" y="2203704"/>
            <a:ext cx="109728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26592" y="2258568"/>
            <a:ext cx="853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engage／Airワーク採用管理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26592" y="2560320"/>
            <a:ext cx="902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無料で採用ページ作成・求人掲載・応募管理ができ、Indeedにも自動連携・掲載される（エン・ジャパン／リクルート提供）。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119360" y="2359152"/>
            <a:ext cx="1219200" cy="384048"/>
          </a:xfrm>
          <a:prstGeom prst="roundRect">
            <a:avLst>
              <a:gd name="adj" fmla="val 19048"/>
            </a:avLst>
          </a:prstGeom>
          <a:solidFill>
            <a:srgbClr val="EFF8F4"/>
          </a:solidFill>
          <a:ln/>
        </p:spPr>
      </p:sp>
      <p:sp>
        <p:nvSpPr>
          <p:cNvPr id="13" name="Text 11"/>
          <p:cNvSpPr/>
          <p:nvPr/>
        </p:nvSpPr>
        <p:spPr>
          <a:xfrm>
            <a:off x="10119360" y="2359152"/>
            <a:ext cx="121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600" y="2990088"/>
            <a:ext cx="109728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6592" y="3044952"/>
            <a:ext cx="853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Indeed 無料掲載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6592" y="3346704"/>
            <a:ext cx="902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無料の直接投稿が可能。2025年7月のクローリング終了により、Indeed上での求人作成（または②のATS連携）が必要。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119360" y="3145536"/>
            <a:ext cx="1219200" cy="384048"/>
          </a:xfrm>
          <a:prstGeom prst="roundRect">
            <a:avLst>
              <a:gd name="adj" fmla="val 19048"/>
            </a:avLst>
          </a:prstGeom>
          <a:solidFill>
            <a:srgbClr val="EFF8F4"/>
          </a:solidFill>
          <a:ln/>
        </p:spPr>
      </p:sp>
      <p:sp>
        <p:nvSpPr>
          <p:cNvPr id="18" name="Text 16"/>
          <p:cNvSpPr/>
          <p:nvPr/>
        </p:nvSpPr>
        <p:spPr>
          <a:xfrm>
            <a:off x="10119360" y="3145536"/>
            <a:ext cx="121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600" y="3776472"/>
            <a:ext cx="109728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6592" y="3831336"/>
            <a:ext cx="853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自社採用ページ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6592" y="4133088"/>
            <a:ext cx="902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修正5点の実施後、JobPosting構造化データでGoogleしごと検索に無料表示の対象化。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119360" y="3931920"/>
            <a:ext cx="1219200" cy="384048"/>
          </a:xfrm>
          <a:prstGeom prst="roundRect">
            <a:avLst>
              <a:gd name="adj" fmla="val 19048"/>
            </a:avLst>
          </a:prstGeom>
          <a:solidFill>
            <a:srgbClr val="EFF8F4"/>
          </a:solidFill>
          <a:ln/>
        </p:spPr>
      </p:sp>
      <p:sp>
        <p:nvSpPr>
          <p:cNvPr id="23" name="Text 21"/>
          <p:cNvSpPr/>
          <p:nvPr/>
        </p:nvSpPr>
        <p:spPr>
          <a:xfrm>
            <a:off x="10119360" y="3931920"/>
            <a:ext cx="121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0円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9600" y="4562856"/>
            <a:ext cx="109728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6592" y="4617720"/>
            <a:ext cx="853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リファラル・地縁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6592" y="4919472"/>
            <a:ext cx="902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社員紹介、グループ人脈、地元の工業高校・職業訓練校との連携。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119360" y="4718304"/>
            <a:ext cx="1219200" cy="384048"/>
          </a:xfrm>
          <a:prstGeom prst="roundRect">
            <a:avLst>
              <a:gd name="adj" fmla="val 19048"/>
            </a:avLst>
          </a:prstGeom>
          <a:solidFill>
            <a:srgbClr val="EFF8F4"/>
          </a:solidFill>
          <a:ln/>
        </p:spPr>
      </p:sp>
      <p:sp>
        <p:nvSpPr>
          <p:cNvPr id="28" name="Text 26"/>
          <p:cNvSpPr/>
          <p:nvPr/>
        </p:nvSpPr>
        <p:spPr>
          <a:xfrm>
            <a:off x="10119360" y="4718304"/>
            <a:ext cx="121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0円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9600" y="5349240"/>
            <a:ext cx="109728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D7E2E8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26592" y="5404104"/>
            <a:ext cx="853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SNS発信（4媒体）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26592" y="5705856"/>
            <a:ext cx="902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TikTok・Instagram・YouTube・Xで現場を継続発信し、採用ページへ誘導。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119360" y="5504688"/>
            <a:ext cx="1219200" cy="384048"/>
          </a:xfrm>
          <a:prstGeom prst="roundRect">
            <a:avLst>
              <a:gd name="adj" fmla="val 19048"/>
            </a:avLst>
          </a:prstGeom>
          <a:solidFill>
            <a:srgbClr val="F2F7F9"/>
          </a:solidFill>
          <a:ln/>
        </p:spPr>
      </p:sp>
      <p:sp>
        <p:nvSpPr>
          <p:cNvPr id="33" name="Text 31"/>
          <p:cNvSpPr/>
          <p:nvPr/>
        </p:nvSpPr>
        <p:spPr>
          <a:xfrm>
            <a:off x="10119360" y="5504688"/>
            <a:ext cx="121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工数のみ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9600" y="64190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出典：engage無料（エン・ジャパン）／Airワーク採用管理 無料・Indeed自動掲載（リクルート）：Web幹事 web-kanji.com（2026/2）、採用係長アカデミー ／ Indeed無料掲載・クローリング終了：saiyo-kakaricho.com（2026/6）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応募を増やす打ち手：求人票の改善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売り手市場では、求人の「間口（応募できる人の幅）」と「魅力（選ばれる理由）」が応募数を左右します。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1481328"/>
            <a:ext cx="5364480" cy="4023360"/>
          </a:xfrm>
          <a:prstGeom prst="roundRect">
            <a:avLst>
              <a:gd name="adj" fmla="val 1818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0976" y="168249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間口を広げる（資格要件の緩和）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99744" y="2423160"/>
            <a:ext cx="4693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「資格必須」を見直し、未経験可・実務経験のみで応募できる枠を新設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母集団が広がり、超売り手市場でも応募の入口を確保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入社後に資格取得を支援する流れを明示（パイプラントは「未経験から手に職」が強み）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81328"/>
            <a:ext cx="5364480" cy="4023360"/>
          </a:xfrm>
          <a:prstGeom prst="roundRect">
            <a:avLst>
              <a:gd name="adj" fmla="val 1818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9296" y="168249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強みを訴求する（差別化メッセージ）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08064" y="2423160"/>
            <a:ext cx="4693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水素という次世代エネルギーの最前線に関われる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設計→製作→施工まで一貫して経験できる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チームワークで未経験から技術を習得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ナカテックグループの安定基盤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この4点はSNS動画のネタ・求人票・採用ページで共通の「決まり文句」として使い回す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個別の待遇（資格取得支援の負担割合・試用期間 等）は事実確認のうえ反映（後日差し替え）。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採用・育成コストを「助成金」で回収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前提：いずれもハローワーク経由・事前手続きが必須。年度ごとに金額・要件が変動します。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1481328"/>
            <a:ext cx="10972800" cy="1207008"/>
          </a:xfrm>
          <a:prstGeom prst="roundRect">
            <a:avLst>
              <a:gd name="adj" fmla="val 5303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50976" y="1600200"/>
            <a:ext cx="780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トライアル雇用助成金（一般トライアルコース）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0976" y="21396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無期雇用を前提に試行雇用する事業主向け。未経験者の受け入れと相性が良い。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839200" y="1755648"/>
            <a:ext cx="2499360" cy="658368"/>
          </a:xfrm>
          <a:prstGeom prst="roundRect">
            <a:avLst>
              <a:gd name="adj" fmla="val 11111"/>
            </a:avLst>
          </a:prstGeom>
          <a:solidFill>
            <a:srgbClr val="0E3A5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839200" y="1755648"/>
            <a:ext cx="249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 月4万円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00" y="2852928"/>
            <a:ext cx="10972800" cy="1207008"/>
          </a:xfrm>
          <a:prstGeom prst="roundRect">
            <a:avLst>
              <a:gd name="adj" fmla="val 5303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0976" y="2971800"/>
            <a:ext cx="780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特定求職者雇用開発助成金（特定就職困難者コース）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0976" y="35112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高年齢者・障害者・母子家庭の母等をハローワーク等の紹介で雇用。2026年5月〜60歳以上は就労支援要件が追加。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39200" y="3127248"/>
            <a:ext cx="2499360" cy="658368"/>
          </a:xfrm>
          <a:prstGeom prst="roundRect">
            <a:avLst>
              <a:gd name="adj" fmla="val 11111"/>
            </a:avLst>
          </a:prstGeom>
          <a:solidFill>
            <a:srgbClr val="0E3A5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839200" y="3127248"/>
            <a:ext cx="249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 最大 240万円／人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600" y="4224528"/>
            <a:ext cx="10972800" cy="1207008"/>
          </a:xfrm>
          <a:prstGeom prst="roundRect">
            <a:avLst>
              <a:gd name="adj" fmla="val 5303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50976" y="4343400"/>
            <a:ext cx="780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人材開発支援助成金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0976" y="48828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従業員の訓練費用などを補助。配管技能の習得（未経験者育成）と相性が良い。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39200" y="4498848"/>
            <a:ext cx="2499360" cy="658368"/>
          </a:xfrm>
          <a:prstGeom prst="roundRect">
            <a:avLst>
              <a:gd name="adj" fmla="val 11111"/>
            </a:avLst>
          </a:prstGeom>
          <a:solidFill>
            <a:srgbClr val="0E3A5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39200" y="4498848"/>
            <a:ext cx="249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金額は要確認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600" y="5650992"/>
            <a:ext cx="10972800" cy="566928"/>
          </a:xfrm>
          <a:prstGeom prst="roundRect">
            <a:avLst>
              <a:gd name="adj" fmla="val 11290"/>
            </a:avLst>
          </a:prstGeom>
          <a:solidFill>
            <a:srgbClr val="EFF8F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50976" y="5650992"/>
            <a:ext cx="1036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受給できれば「採用コスト実質マイナス」も可能。社会保険労務士と連携し、求人申込み時にハローワークで適用可否を確認する。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9600" y="64190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出典：特定求職者雇用開発助成金（最大240万円・2026変更）：補助金ポータル hojyokin-portal.jp ／ トライアル雇用助成金（上限月4万円）：補助金AIステーション hojokin-station.online ／ 厚生労働省 mhlw.go.jp。金額・要件は公式で要確認。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実行ロードマップ：「受け皿が先、集客は後」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旧版との最大の違いは、HP修正をフェーズ0として最初に置いたこと。順序を守ることが成功条件です。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1889760" cy="804672"/>
          </a:xfrm>
          <a:prstGeom prst="roundRect">
            <a:avLst>
              <a:gd name="adj" fmla="val 7955"/>
            </a:avLst>
          </a:prstGeom>
          <a:solidFill>
            <a:srgbClr val="B33A3A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1463040"/>
            <a:ext cx="188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82240" y="1463040"/>
            <a:ext cx="8900160" cy="804672"/>
          </a:xfrm>
          <a:prstGeom prst="roundRect">
            <a:avLst>
              <a:gd name="adj" fmla="val 7955"/>
            </a:avLst>
          </a:prstGeom>
          <a:solidFill>
            <a:srgbClr val="FDF3F2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87040" y="15361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HPの受け皿整備（実装済み・設定1〜2日）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987040" y="1847088"/>
            <a:ext cx="835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仕組みは更新版サイトに実装済み。管理画面から募集要項・フォーム送信先・GA4・SNSリンクを入力する。完了条件：テスト応募が届きGA4で計測できる。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9600" y="2368296"/>
            <a:ext cx="1889760" cy="804672"/>
          </a:xfrm>
          <a:prstGeom prst="roundRect">
            <a:avLst>
              <a:gd name="adj" fmla="val 7955"/>
            </a:avLst>
          </a:prstGeom>
          <a:solidFill>
            <a:srgbClr val="0E3A5D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2368296"/>
            <a:ext cx="188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82240" y="2368296"/>
            <a:ext cx="8900160" cy="804672"/>
          </a:xfrm>
          <a:prstGeom prst="roundRect">
            <a:avLst>
              <a:gd name="adj" fmla="val 7955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87040" y="244144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募集条件の確定（並行・〜1週間）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87040" y="2752344"/>
            <a:ext cx="835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職種・給与・勤務地・休日・未経験可否を確定。完了条件：募集要項1枚が承認される。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600" y="3273552"/>
            <a:ext cx="1889760" cy="804672"/>
          </a:xfrm>
          <a:prstGeom prst="roundRect">
            <a:avLst>
              <a:gd name="adj" fmla="val 7955"/>
            </a:avLst>
          </a:prstGeom>
          <a:solidFill>
            <a:srgbClr val="0E3A5D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3273552"/>
            <a:ext cx="188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82240" y="3273552"/>
            <a:ext cx="8900160" cy="804672"/>
          </a:xfrm>
          <a:prstGeom prst="roundRect">
            <a:avLst>
              <a:gd name="adj" fmla="val 7955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87040" y="334670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無料掲載の立ち上げ（〜2週間）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87040" y="3657600"/>
            <a:ext cx="835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ハローワーク申込み、engage/Airワーク登録→Indeed連携。完了条件：自社ページ含む3チャネル以上で公開。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9600" y="4178808"/>
            <a:ext cx="1889760" cy="804672"/>
          </a:xfrm>
          <a:prstGeom prst="roundRect">
            <a:avLst>
              <a:gd name="adj" fmla="val 7955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09600" y="4178808"/>
            <a:ext cx="188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82240" y="4178808"/>
            <a:ext cx="8900160" cy="804672"/>
          </a:xfrm>
          <a:prstGeom prst="roundRect">
            <a:avLst>
              <a:gd name="adj" fmla="val 7955"/>
            </a:avLst>
          </a:prstGeom>
          <a:solidFill>
            <a:srgbClr val="F2F7F9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87040" y="425196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SNS発信の開始（〜1か月）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987040" y="4562856"/>
            <a:ext cx="835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4媒体のアカウント開設・リンク/UTM設定→週1本の動画投稿開始。社員へ紹介依頼、地元校と接点づくり。完了条件：初回投稿＋紹介制度の社内告知。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9600" y="5084064"/>
            <a:ext cx="1889760" cy="804672"/>
          </a:xfrm>
          <a:prstGeom prst="roundRect">
            <a:avLst>
              <a:gd name="adj" fmla="val 7955"/>
            </a:avLst>
          </a:prstGeom>
          <a:solidFill>
            <a:srgbClr val="1F7A5C"/>
          </a:solidFill>
          <a:ln/>
        </p:spPr>
      </p:sp>
      <p:sp>
        <p:nvSpPr>
          <p:cNvPr id="25" name="Text 23"/>
          <p:cNvSpPr/>
          <p:nvPr/>
        </p:nvSpPr>
        <p:spPr>
          <a:xfrm>
            <a:off x="609600" y="5084064"/>
            <a:ext cx="188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並行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82240" y="5084064"/>
            <a:ext cx="8900160" cy="804672"/>
          </a:xfrm>
          <a:prstGeom prst="roundRect">
            <a:avLst>
              <a:gd name="adj" fmla="val 7955"/>
            </a:avLst>
          </a:prstGeom>
          <a:solidFill>
            <a:srgbClr val="EFF8F4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987040" y="515721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助成金の活用（随時）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987040" y="5468112"/>
            <a:ext cx="835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ハローワークで対象要件を確認し事前手続き。完了条件：適用可否の回答を得る。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600" y="6053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9〜10月の採用ピークに間に合わせるため、6〜7月中にPHASE 0〜2を完了させる。各助成金の正確な対象・金額・締切は厚生労働省およびハローワークで確認のうえ進めること。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効果測定：UTM × GA4で「経路別」に数字で回す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「出して終わり」にしない。無料ツールだけで、どのSNS・チャネルが応募につながったかを月次で判定します。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463040"/>
          <a:ext cx="10972800" cy="2249424"/>
        </p:xfrm>
        <a:graphic>
          <a:graphicData uri="http://schemas.openxmlformats.org/drawingml/2006/table">
            <a:tbl>
              <a:tblPr/>
              <a:tblGrid>
                <a:gridCol w="377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経路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計測方法（すべて0円）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見る数字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TikTok／Instagram／YouTube／X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リンクにutm_source（媒体名）を付与 → GA4の流入レポート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採用ページ閲覧数・フォーム送信数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ハローワーク／Indeed（engage・Airワーク）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応募時に「何を見て応募したか」を必ず確認し記録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経路別の応募数・面接実施率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紹介・地縁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紹介者名をスプレッドシートに記録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紹介件数・入社数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4069080"/>
            <a:ext cx="10972800" cy="1828800"/>
          </a:xfrm>
          <a:prstGeom prst="roundRect">
            <a:avLst>
              <a:gd name="adj" fmla="val 3500"/>
            </a:avLst>
          </a:prstGeom>
          <a:solidFill>
            <a:srgbClr val="F2F7F9"/>
          </a:solidFill>
          <a:ln/>
        </p:spPr>
      </p:sp>
      <p:sp>
        <p:nvSpPr>
          <p:cNvPr id="6" name="Text 3"/>
          <p:cNvSpPr/>
          <p:nvPr/>
        </p:nvSpPr>
        <p:spPr>
          <a:xfrm>
            <a:off x="950976" y="420624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月次レビューの判断ルール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50976" y="4617720"/>
            <a:ext cx="1030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応募ゼロのチャネルが2か月続いたら、求人タイトル・条件・写真・動画を見直す（停止ではなくまず改善）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応募が集まる経路に運用時間を寄せる（無料施策なので“予算”ではなく“工数”を再配分）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面接辞退・内定辞退の理由は記録し、求人票と選考スピードに反映する</a:t>
            </a:r>
            <a:endParaRPr lang="en-US" sz="12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SNSは「3か月・12本」を最低試行回数とし、それまでフォロワー数では判定しない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9600" y="6053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目標値（応募◯件／月 など）は募集条件の確定後に経営側で設定（後日差し替え）。記録はスプレッドシートで十分（追加費用0円）。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26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体制・役割・費用感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600" y="8046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基本は実費0円。主なコストは社内の工数です。担当者名は後日決定（経営判断）。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633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取り組み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主な担当（案）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費用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HP修正5点（募集要項・フォーム・JobPosting・SNSリンク・GA4）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制作担当（外部対応可）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0円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求人掲載（ハローワーク／engage・Airワーク／Indeed）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採用担当 ＋ 制作担当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0円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SNS運用（週1本の動画 → 4媒体配信）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運用担当（現場の若手推奨）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工数のみ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リファラル・地元学校／訓練校との連携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経営・採用担当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0円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効果測定（GA4・経路別記録・月次レビュー）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採用担当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0円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助成金の申請手続き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総務 ＋ 社会保険労務士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受給で実質コスト減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5486400"/>
            <a:ext cx="10972800" cy="777240"/>
          </a:xfrm>
          <a:prstGeom prst="roundRect">
            <a:avLst>
              <a:gd name="adj" fmla="val 8235"/>
            </a:avLst>
          </a:prstGeom>
          <a:solidFill>
            <a:srgbClr val="EFF8F4"/>
          </a:solidFill>
          <a:ln/>
        </p:spPr>
      </p:sp>
      <p:sp>
        <p:nvSpPr>
          <p:cNvPr id="6" name="Text 3"/>
          <p:cNvSpPr/>
          <p:nvPr/>
        </p:nvSpPr>
        <p:spPr>
          <a:xfrm>
            <a:off x="950976" y="5486400"/>
            <a:ext cx="1036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有料化の判断基準（参考）：無料施策を3か月回して応募が目標に届かない場合のみ、Indeedスポンサー枠（数万円〜・クリック課金）等を最小額で検討。最初から有料には踏み込まない。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3A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502920"/>
            <a:ext cx="1048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ご判断いただきたいこと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53440" y="1325880"/>
            <a:ext cx="10485120" cy="914400"/>
          </a:xfrm>
          <a:prstGeom prst="roundRect">
            <a:avLst>
              <a:gd name="adj" fmla="val 7000"/>
            </a:avLst>
          </a:prstGeom>
          <a:solidFill>
            <a:srgbClr val="16486F"/>
          </a:solidFill>
          <a:ln/>
        </p:spPr>
      </p:sp>
      <p:sp>
        <p:nvSpPr>
          <p:cNvPr id="4" name="Text 2"/>
          <p:cNvSpPr/>
          <p:nvPr/>
        </p:nvSpPr>
        <p:spPr>
          <a:xfrm>
            <a:off x="1219200" y="1417320"/>
            <a:ext cx="975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募集条件の確定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19200" y="17647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どの職種を、どの条件（雇用形態・給与・勤務地・休日・未経験可否）で募集するか。HP修正①の前提。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3440" y="2359152"/>
            <a:ext cx="10485120" cy="914400"/>
          </a:xfrm>
          <a:prstGeom prst="roundRect">
            <a:avLst>
              <a:gd name="adj" fmla="val 7000"/>
            </a:avLst>
          </a:prstGeom>
          <a:solidFill>
            <a:srgbClr val="16486F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2450592"/>
            <a:ext cx="975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HP修正5点の実施承認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279806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実費0円。仕組みは更新版サイトに実装済みのため、残るは値の入力のみ（1〜2日）。担当を指定いただければ即反映可能。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3440" y="3392424"/>
            <a:ext cx="10485120" cy="914400"/>
          </a:xfrm>
          <a:prstGeom prst="roundRect">
            <a:avLst>
              <a:gd name="adj" fmla="val 7000"/>
            </a:avLst>
          </a:prstGeom>
          <a:solidFill>
            <a:srgbClr val="16486F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3483864"/>
            <a:ext cx="975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SNS発信の可否と運用担当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9200" y="383133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4媒体での現場発信を行うか。顔出し範囲・撮影ルールと運用担当者（現場の若手推奨）の指名。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3440" y="4425696"/>
            <a:ext cx="10485120" cy="914400"/>
          </a:xfrm>
          <a:prstGeom prst="roundRect">
            <a:avLst>
              <a:gd name="adj" fmla="val 7000"/>
            </a:avLst>
          </a:prstGeom>
          <a:solidFill>
            <a:srgbClr val="16486F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4517136"/>
            <a:ext cx="975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助成金活用の方針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9200" y="48646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A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ハローワークへの相談・事前手続きを進めてよいか。社会保険労務士との連携可否。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3440" y="5623560"/>
            <a:ext cx="10485120" cy="777240"/>
          </a:xfrm>
          <a:prstGeom prst="roundRect">
            <a:avLst>
              <a:gd name="adj" fmla="val 9412"/>
            </a:avLst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1158240" y="56235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E3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次アクション：①の募集条件を確定し、今月中に「HP修正5点 ＋ ハローワーク求人申込み」を完了。来月からSNS発信を開始する。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48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8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1965</Words>
  <Application>Microsoft Office PowerPoint</Application>
  <PresentationFormat>画面に合わせる (4:3)</PresentationFormat>
  <Paragraphs>291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19" baseType="lpstr"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低コスト採用 実行プラン（全面改訂版）</dc:title>
  <dc:subject>PptxGenJS Presentation</dc:subject>
  <dc:creator>株式会社パイプラント</dc:creator>
  <cp:lastModifiedBy>隆吉 澤</cp:lastModifiedBy>
  <cp:revision>1</cp:revision>
  <dcterms:created xsi:type="dcterms:W3CDTF">2026-06-12T12:55:28Z</dcterms:created>
  <dcterms:modified xsi:type="dcterms:W3CDTF">2026-06-12T13:06:09Z</dcterms:modified>
</cp:coreProperties>
</file>