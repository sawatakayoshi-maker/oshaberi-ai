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6"/>
    <p:sldId id="259" r:id="rId5"/>
    <p:sldId id="260" r:id="rId4"/>
    <p:sldId id="261" r:id="rId3"/>
    <p:sldId id="262" r:id="rId2"/>
    <p:sldId id="263" r:id="rId14"/>
    <p:sldId id="264" r:id="rId15"/>
    <p:sldId id="265" r:id="rId16"/>
    <p:sldId id="266" r:id="rId17"/>
    <p:sldId id="267" r:id="rId18"/>
  </p:sldIdLst>
  <p:notesMasterIdLst>
    <p:notesMasterId r:id="rId9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7.xml"/><Relationship Id="rId3" Type="http://schemas.openxmlformats.org/officeDocument/2006/relationships/slide" Target="slides/slide6.xml"/><Relationship Id="rId4" Type="http://schemas.openxmlformats.org/officeDocument/2006/relationships/slide" Target="slides/slide5.xml"/><Relationship Id="rId5" Type="http://schemas.openxmlformats.org/officeDocument/2006/relationships/slide" Target="slides/slide4.xml"/><Relationship Id="rId6" Type="http://schemas.openxmlformats.org/officeDocument/2006/relationships/slide" Target="slides/slide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B2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E89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949440" y="-1280160"/>
            <a:ext cx="3840480" cy="3840480"/>
          </a:xfrm>
          <a:prstGeom prst="ellipse">
            <a:avLst/>
          </a:prstGeom>
          <a:solidFill>
            <a:srgbClr val="1648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7680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3FB6C7"/>
                </a:solidFill>
                <a:latin typeface="游ゴシック"/>
                <a:ea typeface="游ゴシック"/>
              </a:rPr>
              <a:t>株式会社パイプラント 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78638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FFFFFF"/>
                </a:solidFill>
                <a:latin typeface="游ゴシック"/>
                <a:ea typeface="游ゴシック"/>
              </a:rPr>
              <a:t>公式サイト 解説書 ＆ 運用マニュアル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611880"/>
            <a:ext cx="78638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CFE0EC"/>
                </a:solidFill>
                <a:latin typeface="游ゴシック"/>
                <a:ea typeface="游ゴシック"/>
              </a:rPr>
              <a:t>サイトの特長・ねらい ／ サイトマップ ／ 他社との差別化機能 ／ 管理画面（admin）の使い方</a:t>
            </a:r>
          </a:p>
        </p:txBody>
      </p:sp>
      <p:sp>
        <p:nvSpPr>
          <p:cNvPr id="8" name="Rectangle 7"/>
          <p:cNvSpPr/>
          <p:nvPr/>
        </p:nvSpPr>
        <p:spPr>
          <a:xfrm>
            <a:off x="749808" y="4754880"/>
            <a:ext cx="2011680" cy="45720"/>
          </a:xfrm>
          <a:prstGeom prst="rect">
            <a:avLst/>
          </a:prstGeom>
          <a:solidFill>
            <a:srgbClr val="E89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937760"/>
            <a:ext cx="7863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FB6C7"/>
                </a:solidFill>
                <a:latin typeface="游ゴシック"/>
                <a:ea typeface="游ゴシック"/>
              </a:rPr>
              <a:t>PIPE PLANT ／ NAKATEC GROUP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09360"/>
            <a:ext cx="7863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9FC3DC"/>
                </a:solidFill>
                <a:latin typeface="游ゴシック"/>
                <a:ea typeface="游ゴシック"/>
              </a:rPr>
              <a:t>2026年6月12日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E89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57200"/>
            <a:ext cx="146304" cy="310896"/>
          </a:xfrm>
          <a:prstGeom prst="rect">
            <a:avLst/>
          </a:prstGeom>
          <a:solidFill>
            <a:srgbClr val="E89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457200"/>
            <a:ext cx="73152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E8923A"/>
                </a:solidFill>
                <a:latin typeface="游ゴシック"/>
                <a:ea typeface="游ゴシック"/>
              </a:rPr>
              <a:t>PURPOSE ／ 本サイトのねらい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41248"/>
            <a:ext cx="8229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16486F"/>
                </a:solidFill>
                <a:latin typeface="游ゴシック"/>
                <a:ea typeface="游ゴシック"/>
              </a:rPr>
              <a:t>このホームページが目指すもの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81328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5C6B7A"/>
                </a:solidFill>
                <a:latin typeface="游ゴシック"/>
                <a:ea typeface="游ゴシック"/>
              </a:rPr>
              <a:t>「作って終わり」ではなく、問い合わせ・採用・集客の成果につなげ、自社で育てられるサイトを目的に設計しています。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828800"/>
            <a:ext cx="8229600" cy="896112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C8D6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58368" y="2029968"/>
            <a:ext cx="493776" cy="493776"/>
          </a:xfrm>
          <a:prstGeom prst="roundRect">
            <a:avLst/>
          </a:prstGeom>
          <a:solidFill>
            <a:srgbClr val="1648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58368" y="2029968"/>
            <a:ext cx="493776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游ゴシック"/>
                <a:ea typeface="游ゴシック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1920240"/>
            <a:ext cx="7132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16486F"/>
                </a:solidFill>
                <a:latin typeface="游ゴシック"/>
                <a:ea typeface="游ゴシック"/>
              </a:rPr>
              <a:t>① 問い合わせ・受注の獲得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249424"/>
            <a:ext cx="717804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5C6B7A"/>
                </a:solidFill>
                <a:latin typeface="游ゴシック"/>
                <a:ea typeface="游ゴシック"/>
              </a:rPr>
              <a:t>電話／フォーム／施工事例で信頼を伝え、発注検討者を“相談”まで導く導線を全ページに設置。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779776"/>
            <a:ext cx="8229600" cy="896112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C8D6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58368" y="2980944"/>
            <a:ext cx="493776" cy="493776"/>
          </a:xfrm>
          <a:prstGeom prst="roundRect">
            <a:avLst/>
          </a:prstGeom>
          <a:solidFill>
            <a:srgbClr val="1648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58368" y="2980944"/>
            <a:ext cx="493776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游ゴシック"/>
                <a:ea typeface="游ゴシック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2871216"/>
            <a:ext cx="7132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16486F"/>
                </a:solidFill>
                <a:latin typeface="游ゴシック"/>
                <a:ea typeface="游ゴシック"/>
              </a:rPr>
              <a:t>② 採用力の強化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200400"/>
            <a:ext cx="717804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5C6B7A"/>
                </a:solidFill>
                <a:latin typeface="游ゴシック"/>
                <a:ea typeface="游ゴシック"/>
              </a:rPr>
              <a:t>未経験歓迎のメッセージ・FAQ・募集要項で、応募前の不安を解消し応募につなげる。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3730752"/>
            <a:ext cx="8229600" cy="896112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C8D6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58368" y="3931920"/>
            <a:ext cx="493776" cy="493776"/>
          </a:xfrm>
          <a:prstGeom prst="roundRect">
            <a:avLst/>
          </a:prstGeom>
          <a:solidFill>
            <a:srgbClr val="1648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58368" y="3931920"/>
            <a:ext cx="493776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游ゴシック"/>
                <a:ea typeface="游ゴシック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822191"/>
            <a:ext cx="7132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16486F"/>
                </a:solidFill>
                <a:latin typeface="游ゴシック"/>
                <a:ea typeface="游ゴシック"/>
              </a:rPr>
              <a:t>③ 検索からの新規流入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4151376"/>
            <a:ext cx="717804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5C6B7A"/>
                </a:solidFill>
                <a:latin typeface="游ゴシック"/>
                <a:ea typeface="游ゴシック"/>
              </a:rPr>
              <a:t>「地域名×工事種別」を軸にしたSEO設計と構造化データで、検索からの来訪を増やす。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4681728"/>
            <a:ext cx="8229600" cy="896112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C8D6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58368" y="4882896"/>
            <a:ext cx="493776" cy="493776"/>
          </a:xfrm>
          <a:prstGeom prst="roundRect">
            <a:avLst/>
          </a:prstGeom>
          <a:solidFill>
            <a:srgbClr val="1648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658368" y="4882896"/>
            <a:ext cx="493776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游ゴシック"/>
                <a:ea typeface="游ゴシック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4773168"/>
            <a:ext cx="7132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16486F"/>
                </a:solidFill>
                <a:latin typeface="游ゴシック"/>
                <a:ea typeface="游ゴシック"/>
              </a:rPr>
              <a:t>④ 自社で育てるサイト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600" y="5102352"/>
            <a:ext cx="717804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5C6B7A"/>
                </a:solidFill>
                <a:latin typeface="游ゴシック"/>
                <a:ea typeface="游ゴシック"/>
              </a:rPr>
              <a:t>管理画面で会社情報・お知らせ・施工事例を更新。常に“動いている会社”を発信できる。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473952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C6B7A"/>
                </a:solidFill>
                <a:latin typeface="游ゴシック"/>
                <a:ea typeface="游ゴシック"/>
              </a:rPr>
              <a:t>※ 検索順位・問い合わせ数の増加は保証値ではありません。公開後の計測→改善の運用が前提です。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E89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57200"/>
            <a:ext cx="146304" cy="310896"/>
          </a:xfrm>
          <a:prstGeom prst="rect">
            <a:avLst/>
          </a:prstGeom>
          <a:solidFill>
            <a:srgbClr val="E89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457200"/>
            <a:ext cx="73152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E8923A"/>
                </a:solidFill>
                <a:latin typeface="游ゴシック"/>
                <a:ea typeface="游ゴシック"/>
              </a:rPr>
              <a:t>STRENGTHS ／ 優れている点・特化した点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41248"/>
            <a:ext cx="8229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16486F"/>
                </a:solidFill>
                <a:latin typeface="游ゴシック"/>
                <a:ea typeface="游ゴシック"/>
              </a:rPr>
              <a:t>他にはない、本サイトの強み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81328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5C6B7A"/>
                </a:solidFill>
                <a:latin typeface="游ゴシック"/>
                <a:ea typeface="游ゴシック"/>
              </a:rPr>
              <a:t>配管・プラント工事という専門業種に最適化し、集客と運用のしやすさを両立しています。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828800"/>
            <a:ext cx="8229600" cy="701040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C8D6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58368" y="1932432"/>
            <a:ext cx="493776" cy="493776"/>
          </a:xfrm>
          <a:prstGeom prst="roundRect">
            <a:avLst/>
          </a:prstGeom>
          <a:solidFill>
            <a:srgbClr val="1648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58368" y="1932432"/>
            <a:ext cx="493776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游ゴシック"/>
                <a:ea typeface="游ゴシック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1920240"/>
            <a:ext cx="7132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16486F"/>
                </a:solidFill>
                <a:latin typeface="游ゴシック"/>
                <a:ea typeface="游ゴシック"/>
              </a:rPr>
              <a:t>1ページ＝1テーマのSEO設計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249424"/>
            <a:ext cx="7178040" cy="243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5C6B7A"/>
                </a:solidFill>
                <a:latin typeface="游ゴシック"/>
                <a:ea typeface="游ゴシック"/>
              </a:rPr>
              <a:t>各ページのtitleに地域名＋工事種別を反映。検索意図に正確に応える構成。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584704"/>
            <a:ext cx="8229600" cy="701040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C8D6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58368" y="2688336"/>
            <a:ext cx="493776" cy="493776"/>
          </a:xfrm>
          <a:prstGeom prst="roundRect">
            <a:avLst/>
          </a:prstGeom>
          <a:solidFill>
            <a:srgbClr val="1648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58368" y="2688336"/>
            <a:ext cx="493776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游ゴシック"/>
                <a:ea typeface="游ゴシック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2676144"/>
            <a:ext cx="7132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16486F"/>
                </a:solidFill>
                <a:latin typeface="游ゴシック"/>
                <a:ea typeface="游ゴシック"/>
              </a:rPr>
              <a:t>構造化データを標準実装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005328"/>
            <a:ext cx="7178040" cy="243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5C6B7A"/>
                </a:solidFill>
                <a:latin typeface="游ゴシック"/>
                <a:ea typeface="游ゴシック"/>
              </a:rPr>
              <a:t>事業者情報・FAQ・パンくずをGoogleに正しく伝え、検索結果のリッチ表示を狙う。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3340608"/>
            <a:ext cx="8229600" cy="701040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C8D6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58368" y="3444240"/>
            <a:ext cx="493776" cy="493776"/>
          </a:xfrm>
          <a:prstGeom prst="roundRect">
            <a:avLst/>
          </a:prstGeom>
          <a:solidFill>
            <a:srgbClr val="1648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58368" y="3444240"/>
            <a:ext cx="493776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游ゴシック"/>
                <a:ea typeface="游ゴシック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432048"/>
            <a:ext cx="7132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16486F"/>
                </a:solidFill>
                <a:latin typeface="游ゴシック"/>
                <a:ea typeface="游ゴシック"/>
              </a:rPr>
              <a:t>専門業種に特化した3導線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3761232"/>
            <a:ext cx="7178040" cy="243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5C6B7A"/>
                </a:solidFill>
                <a:latin typeface="游ゴシック"/>
                <a:ea typeface="游ゴシック"/>
              </a:rPr>
              <a:t>「発注を考える方」「採用」「水素」へ、来訪者の目的別に最短で案内。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4096512"/>
            <a:ext cx="8229600" cy="701040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C8D6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58368" y="4200144"/>
            <a:ext cx="493776" cy="493776"/>
          </a:xfrm>
          <a:prstGeom prst="roundRect">
            <a:avLst/>
          </a:prstGeom>
          <a:solidFill>
            <a:srgbClr val="1648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658368" y="4200144"/>
            <a:ext cx="493776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游ゴシック"/>
                <a:ea typeface="游ゴシック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4187952"/>
            <a:ext cx="7132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16486F"/>
                </a:solidFill>
                <a:latin typeface="游ゴシック"/>
                <a:ea typeface="游ゴシック"/>
              </a:rPr>
              <a:t>スマホ最適化と軽量・高速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600" y="4517136"/>
            <a:ext cx="7178040" cy="243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5C6B7A"/>
                </a:solidFill>
                <a:latin typeface="游ゴシック"/>
                <a:ea typeface="游ゴシック"/>
              </a:rPr>
              <a:t>画面下の固定CTA（電話／問い合わせ）、外部依存の少ない軽量設計。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4852416"/>
            <a:ext cx="8229600" cy="701040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C8D6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58368" y="4956048"/>
            <a:ext cx="493776" cy="493776"/>
          </a:xfrm>
          <a:prstGeom prst="roundRect">
            <a:avLst/>
          </a:prstGeom>
          <a:solidFill>
            <a:srgbClr val="1648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658368" y="4956048"/>
            <a:ext cx="493776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游ゴシック"/>
                <a:ea typeface="游ゴシック"/>
              </a:rP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71600" y="4943856"/>
            <a:ext cx="7132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16486F"/>
                </a:solidFill>
                <a:latin typeface="游ゴシック"/>
                <a:ea typeface="游ゴシック"/>
              </a:rPr>
              <a:t>ノーコード管理画面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71600" y="5273040"/>
            <a:ext cx="7178040" cy="243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5C6B7A"/>
                </a:solidFill>
                <a:latin typeface="游ゴシック"/>
                <a:ea typeface="游ゴシック"/>
              </a:rPr>
              <a:t>会社情報・お知らせ・施工事例を、専門知識なしでブラウザから更新。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5608320"/>
            <a:ext cx="8229600" cy="701040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C8D6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58368" y="5711951"/>
            <a:ext cx="493776" cy="493776"/>
          </a:xfrm>
          <a:prstGeom prst="roundRect">
            <a:avLst/>
          </a:prstGeom>
          <a:solidFill>
            <a:srgbClr val="1648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658368" y="5711951"/>
            <a:ext cx="493776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游ゴシック"/>
                <a:ea typeface="游ゴシック"/>
              </a:rPr>
              <a:t>✓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71600" y="5699759"/>
            <a:ext cx="7132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16486F"/>
                </a:solidFill>
                <a:latin typeface="游ゴシック"/>
                <a:ea typeface="游ゴシック"/>
              </a:rPr>
              <a:t>1ファイル設定で全ページ反映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71600" y="6028944"/>
            <a:ext cx="7178040" cy="243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5C6B7A"/>
                </a:solidFill>
                <a:latin typeface="游ゴシック"/>
                <a:ea typeface="游ゴシック"/>
              </a:rPr>
              <a:t>config.js 一つで電話・住所・SNS・地図・送信先を一括管理。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E89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57200"/>
            <a:ext cx="146304" cy="310896"/>
          </a:xfrm>
          <a:prstGeom prst="rect">
            <a:avLst/>
          </a:prstGeom>
          <a:solidFill>
            <a:srgbClr val="E89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457200"/>
            <a:ext cx="73152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E8923A"/>
                </a:solidFill>
                <a:latin typeface="游ゴシック"/>
                <a:ea typeface="游ゴシック"/>
              </a:rPr>
              <a:t>SITEMAP ／ サイト全体の構成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41248"/>
            <a:ext cx="8229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16486F"/>
                </a:solidFill>
                <a:latin typeface="游ゴシック"/>
                <a:ea typeface="游ゴシック"/>
              </a:rPr>
              <a:t>サイトマップ（全12ページ＋管理画面）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81328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5C6B7A"/>
                </a:solidFill>
                <a:latin typeface="游ゴシック"/>
                <a:ea typeface="游ゴシック"/>
              </a:rPr>
              <a:t>公開ページ11＋エラーページ＋非公開の管理画面で構成。フッターから全ページへ回遊できます。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810512"/>
            <a:ext cx="8229600" cy="365760"/>
          </a:xfrm>
          <a:prstGeom prst="rect">
            <a:avLst/>
          </a:prstGeom>
          <a:solidFill>
            <a:srgbClr val="1648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810512"/>
            <a:ext cx="21945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FFFFFF"/>
                </a:solidFill>
                <a:latin typeface="游ゴシック"/>
                <a:ea typeface="游ゴシック"/>
              </a:rPr>
              <a:t>ページ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88920" y="1810512"/>
            <a:ext cx="57607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FFFFFF"/>
                </a:solidFill>
                <a:latin typeface="游ゴシック"/>
                <a:ea typeface="游ゴシック"/>
              </a:rPr>
              <a:t>役割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194560"/>
            <a:ext cx="82296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8D6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2194560"/>
            <a:ext cx="22402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1C7293"/>
                </a:solidFill>
                <a:latin typeface="游ゴシック"/>
                <a:ea typeface="游ゴシック"/>
              </a:rPr>
              <a:t>index.html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88920" y="2194560"/>
            <a:ext cx="58064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C2733"/>
                </a:solidFill>
                <a:latin typeface="游ゴシック"/>
                <a:ea typeface="游ゴシック"/>
              </a:rPr>
              <a:t>トップ（会社の入口・各ページへの要約と導線）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578608"/>
            <a:ext cx="8229600" cy="384048"/>
          </a:xfrm>
          <a:prstGeom prst="rect">
            <a:avLst/>
          </a:prstGeom>
          <a:solidFill>
            <a:srgbClr val="F4F6F8"/>
          </a:solidFill>
          <a:ln w="6350">
            <a:solidFill>
              <a:srgbClr val="C8D6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2578608"/>
            <a:ext cx="22402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1C7293"/>
                </a:solidFill>
                <a:latin typeface="游ゴシック"/>
                <a:ea typeface="游ゴシック"/>
              </a:rPr>
              <a:t>about.html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88920" y="2578608"/>
            <a:ext cx="58064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C2733"/>
                </a:solidFill>
                <a:latin typeface="游ゴシック"/>
                <a:ea typeface="游ゴシック"/>
              </a:rPr>
              <a:t>私たちについて（理念・事業の柱・一貫体制）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962656"/>
            <a:ext cx="82296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8D6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2962656"/>
            <a:ext cx="22402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1C7293"/>
                </a:solidFill>
                <a:latin typeface="游ゴシック"/>
                <a:ea typeface="游ゴシック"/>
              </a:rPr>
              <a:t>business.html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88920" y="2962656"/>
            <a:ext cx="58064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C2733"/>
                </a:solidFill>
                <a:latin typeface="游ゴシック"/>
                <a:ea typeface="游ゴシック"/>
              </a:rPr>
              <a:t>事業内容（配管・機械・製缶・その他）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346703"/>
            <a:ext cx="8229600" cy="384048"/>
          </a:xfrm>
          <a:prstGeom prst="rect">
            <a:avLst/>
          </a:prstGeom>
          <a:solidFill>
            <a:srgbClr val="F4F6F8"/>
          </a:solidFill>
          <a:ln w="6350">
            <a:solidFill>
              <a:srgbClr val="C8D6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3346703"/>
            <a:ext cx="22402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1C7293"/>
                </a:solidFill>
                <a:latin typeface="游ゴシック"/>
                <a:ea typeface="游ゴシック"/>
              </a:rPr>
              <a:t>works.html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88920" y="3346703"/>
            <a:ext cx="58064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C2733"/>
                </a:solidFill>
                <a:latin typeface="游ゴシック"/>
                <a:ea typeface="游ゴシック"/>
              </a:rPr>
              <a:t>施工事例（実績ギャラリー｜管理画面で追加可）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3730752"/>
            <a:ext cx="82296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8D6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3730752"/>
            <a:ext cx="22402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1C7293"/>
                </a:solidFill>
                <a:latin typeface="游ゴシック"/>
                <a:ea typeface="游ゴシック"/>
              </a:rPr>
              <a:t>hydrogen.html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88920" y="3730752"/>
            <a:ext cx="58064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C2733"/>
                </a:solidFill>
                <a:latin typeface="游ゴシック"/>
                <a:ea typeface="游ゴシック"/>
              </a:rPr>
              <a:t>水素への挑戦（次世代エネルギー領域）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4114800"/>
            <a:ext cx="8229600" cy="384048"/>
          </a:xfrm>
          <a:prstGeom prst="rect">
            <a:avLst/>
          </a:prstGeom>
          <a:solidFill>
            <a:srgbClr val="F4F6F8"/>
          </a:solidFill>
          <a:ln w="6350">
            <a:solidFill>
              <a:srgbClr val="C8D6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4360" y="4114800"/>
            <a:ext cx="22402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1C7293"/>
                </a:solidFill>
                <a:latin typeface="游ゴシック"/>
                <a:ea typeface="游ゴシック"/>
              </a:rPr>
              <a:t>clients.html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88920" y="4114800"/>
            <a:ext cx="58064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C2733"/>
                </a:solidFill>
                <a:latin typeface="游ゴシック"/>
                <a:ea typeface="游ゴシック"/>
              </a:rPr>
              <a:t>発注をお考えの方へ（選ばれる理由・相談の流れ）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4498848"/>
            <a:ext cx="82296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8D6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4360" y="4498848"/>
            <a:ext cx="22402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1C7293"/>
                </a:solidFill>
                <a:latin typeface="游ゴシック"/>
                <a:ea typeface="游ゴシック"/>
              </a:rPr>
              <a:t>recruit.html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88920" y="4498848"/>
            <a:ext cx="58064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C2733"/>
                </a:solidFill>
                <a:latin typeface="游ゴシック"/>
                <a:ea typeface="游ゴシック"/>
              </a:rPr>
              <a:t>採用情報（魅力・募集要項・FAQ）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4882896"/>
            <a:ext cx="8229600" cy="384048"/>
          </a:xfrm>
          <a:prstGeom prst="rect">
            <a:avLst/>
          </a:prstGeom>
          <a:solidFill>
            <a:srgbClr val="F4F6F8"/>
          </a:solidFill>
          <a:ln w="6350">
            <a:solidFill>
              <a:srgbClr val="C8D6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94360" y="4882896"/>
            <a:ext cx="22402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1C7293"/>
                </a:solidFill>
                <a:latin typeface="游ゴシック"/>
                <a:ea typeface="游ゴシック"/>
              </a:rPr>
              <a:t>company.html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88920" y="4882896"/>
            <a:ext cx="58064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C2733"/>
                </a:solidFill>
                <a:latin typeface="游ゴシック"/>
                <a:ea typeface="游ゴシック"/>
              </a:rPr>
              <a:t>会社概要（会社情報・アクセス・SNS）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5266944"/>
            <a:ext cx="82296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8D6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94360" y="5266944"/>
            <a:ext cx="22402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1C7293"/>
                </a:solidFill>
                <a:latin typeface="游ゴシック"/>
                <a:ea typeface="游ゴシック"/>
              </a:rPr>
              <a:t>news.html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788920" y="5266944"/>
            <a:ext cx="58064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C2733"/>
                </a:solidFill>
                <a:latin typeface="游ゴシック"/>
                <a:ea typeface="游ゴシック"/>
              </a:rPr>
              <a:t>お知らせ（管理画面で追加可）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5650992"/>
            <a:ext cx="8229600" cy="384048"/>
          </a:xfrm>
          <a:prstGeom prst="rect">
            <a:avLst/>
          </a:prstGeom>
          <a:solidFill>
            <a:srgbClr val="F4F6F8"/>
          </a:solidFill>
          <a:ln w="6350">
            <a:solidFill>
              <a:srgbClr val="C8D6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94360" y="5650992"/>
            <a:ext cx="22402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1C7293"/>
                </a:solidFill>
                <a:latin typeface="游ゴシック"/>
                <a:ea typeface="游ゴシック"/>
              </a:rPr>
              <a:t>contact.html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788920" y="5650992"/>
            <a:ext cx="58064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C2733"/>
                </a:solidFill>
                <a:latin typeface="游ゴシック"/>
                <a:ea typeface="游ゴシック"/>
              </a:rPr>
              <a:t>お問い合わせ（フォーム・電話・アクセス）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7200" y="6035040"/>
            <a:ext cx="82296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8D6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94360" y="6035040"/>
            <a:ext cx="22402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1C7293"/>
                </a:solidFill>
                <a:latin typeface="游ゴシック"/>
                <a:ea typeface="游ゴシック"/>
              </a:rPr>
              <a:t>404.html ／ admin.html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788920" y="6035040"/>
            <a:ext cx="58064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C2733"/>
                </a:solidFill>
                <a:latin typeface="游ゴシック"/>
                <a:ea typeface="游ゴシック"/>
              </a:rPr>
              <a:t>エラーページ ／ 管理画面（検索非公開）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E89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57200"/>
            <a:ext cx="146304" cy="310896"/>
          </a:xfrm>
          <a:prstGeom prst="rect">
            <a:avLst/>
          </a:prstGeom>
          <a:solidFill>
            <a:srgbClr val="E89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457200"/>
            <a:ext cx="73152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E8923A"/>
                </a:solidFill>
                <a:latin typeface="游ゴシック"/>
                <a:ea typeface="游ゴシック"/>
              </a:rPr>
              <a:t>DIFFERENTIATION ／ 他社との差別化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41248"/>
            <a:ext cx="8229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16486F"/>
                </a:solidFill>
                <a:latin typeface="游ゴシック"/>
                <a:ea typeface="游ゴシック"/>
              </a:rPr>
              <a:t>一般的な制作との違い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81328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5C6B7A"/>
                </a:solidFill>
                <a:latin typeface="游ゴシック"/>
                <a:ea typeface="游ゴシック"/>
              </a:rPr>
              <a:t>同じ“ホームページ制作”でも、更新性・集客・運用コストで明確な差があります。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828800"/>
            <a:ext cx="2011680" cy="603504"/>
          </a:xfrm>
          <a:prstGeom prst="rect">
            <a:avLst/>
          </a:prstGeom>
          <a:solidFill>
            <a:srgbClr val="0B2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828800"/>
            <a:ext cx="182880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游ゴシック"/>
                <a:ea typeface="游ゴシック"/>
              </a:rPr>
              <a:t>項目</a:t>
            </a:r>
          </a:p>
        </p:txBody>
      </p:sp>
      <p:sp>
        <p:nvSpPr>
          <p:cNvPr id="9" name="Rectangle 8"/>
          <p:cNvSpPr/>
          <p:nvPr/>
        </p:nvSpPr>
        <p:spPr>
          <a:xfrm>
            <a:off x="2468880" y="1828800"/>
            <a:ext cx="3108960" cy="603504"/>
          </a:xfrm>
          <a:prstGeom prst="rect">
            <a:avLst/>
          </a:prstGeom>
          <a:solidFill>
            <a:srgbClr val="8A9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60320" y="1828800"/>
            <a:ext cx="292608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游ゴシック"/>
                <a:ea typeface="游ゴシック"/>
              </a:rPr>
              <a:t>一般的な制作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577840" y="1828800"/>
            <a:ext cx="3108960" cy="603504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0" y="1828800"/>
            <a:ext cx="292608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游ゴシック"/>
                <a:ea typeface="游ゴシック"/>
              </a:rPr>
              <a:t>本サイト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432304"/>
            <a:ext cx="2011680" cy="603504"/>
          </a:xfrm>
          <a:prstGeom prst="rect">
            <a:avLst/>
          </a:prstGeom>
          <a:solidFill>
            <a:srgbClr val="F4F6F8"/>
          </a:solidFill>
          <a:ln w="6350">
            <a:solidFill>
              <a:srgbClr val="C8D6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432304"/>
            <a:ext cx="1874519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16486F"/>
                </a:solidFill>
                <a:latin typeface="游ゴシック"/>
                <a:ea typeface="游ゴシック"/>
              </a:rPr>
              <a:t>更新作業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68880" y="2432304"/>
            <a:ext cx="3108960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C8D6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60320" y="2432304"/>
            <a:ext cx="292608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B7A"/>
                </a:solidFill>
                <a:latin typeface="游ゴシック"/>
                <a:ea typeface="游ゴシック"/>
              </a:rPr>
              <a:t>その都度 制作会社へ依頼（有料・時間がかかる）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577840" y="2432304"/>
            <a:ext cx="3108960" cy="603504"/>
          </a:xfrm>
          <a:prstGeom prst="rect">
            <a:avLst/>
          </a:prstGeom>
          <a:solidFill>
            <a:srgbClr val="EAF6F8"/>
          </a:solidFill>
          <a:ln w="6350">
            <a:solidFill>
              <a:srgbClr val="C8D6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0" y="2432304"/>
            <a:ext cx="292608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1C2733"/>
                </a:solidFill>
                <a:latin typeface="游ゴシック"/>
                <a:ea typeface="游ゴシック"/>
              </a:rPr>
              <a:t>管理画面から自社で即時更新（追加費用なし）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035808"/>
            <a:ext cx="2011680" cy="603504"/>
          </a:xfrm>
          <a:prstGeom prst="rect">
            <a:avLst/>
          </a:prstGeom>
          <a:solidFill>
            <a:srgbClr val="F4F6F8"/>
          </a:solidFill>
          <a:ln w="6350">
            <a:solidFill>
              <a:srgbClr val="C8D6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3035808"/>
            <a:ext cx="1874519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16486F"/>
                </a:solidFill>
                <a:latin typeface="游ゴシック"/>
                <a:ea typeface="游ゴシック"/>
              </a:rPr>
              <a:t>施工事例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468880" y="3035808"/>
            <a:ext cx="3108960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C8D6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560320" y="3035808"/>
            <a:ext cx="292608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B7A"/>
                </a:solidFill>
                <a:latin typeface="游ゴシック"/>
                <a:ea typeface="游ゴシック"/>
              </a:rPr>
              <a:t>固定HTMLで、増やすにも依頼が必要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577840" y="3035808"/>
            <a:ext cx="3108960" cy="603504"/>
          </a:xfrm>
          <a:prstGeom prst="rect">
            <a:avLst/>
          </a:prstGeom>
          <a:solidFill>
            <a:srgbClr val="EAF6F8"/>
          </a:solidFill>
          <a:ln w="6350">
            <a:solidFill>
              <a:srgbClr val="C8D6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69280" y="3035808"/>
            <a:ext cx="292608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1C2733"/>
                </a:solidFill>
                <a:latin typeface="游ゴシック"/>
                <a:ea typeface="游ゴシック"/>
              </a:rPr>
              <a:t>管理画面で写真付き追加（自動縮小）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3639312"/>
            <a:ext cx="2011680" cy="603504"/>
          </a:xfrm>
          <a:prstGeom prst="rect">
            <a:avLst/>
          </a:prstGeom>
          <a:solidFill>
            <a:srgbClr val="F4F6F8"/>
          </a:solidFill>
          <a:ln w="6350">
            <a:solidFill>
              <a:srgbClr val="C8D6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3639312"/>
            <a:ext cx="1874519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16486F"/>
                </a:solidFill>
                <a:latin typeface="游ゴシック"/>
                <a:ea typeface="游ゴシック"/>
              </a:rPr>
              <a:t>SEO構造化データ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468880" y="3639312"/>
            <a:ext cx="3108960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C8D6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560320" y="3639312"/>
            <a:ext cx="292608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B7A"/>
                </a:solidFill>
                <a:latin typeface="游ゴシック"/>
                <a:ea typeface="游ゴシック"/>
              </a:rPr>
              <a:t>無し／別オプション料金が一般的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577840" y="3639312"/>
            <a:ext cx="3108960" cy="603504"/>
          </a:xfrm>
          <a:prstGeom prst="rect">
            <a:avLst/>
          </a:prstGeom>
          <a:solidFill>
            <a:srgbClr val="EAF6F8"/>
          </a:solidFill>
          <a:ln w="6350">
            <a:solidFill>
              <a:srgbClr val="C8D6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669280" y="3639312"/>
            <a:ext cx="292608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1C2733"/>
                </a:solidFill>
                <a:latin typeface="游ゴシック"/>
                <a:ea typeface="游ゴシック"/>
              </a:rPr>
              <a:t>事業者・FAQ・パンくずを標準実装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4242816"/>
            <a:ext cx="2011680" cy="603504"/>
          </a:xfrm>
          <a:prstGeom prst="rect">
            <a:avLst/>
          </a:prstGeom>
          <a:solidFill>
            <a:srgbClr val="F4F6F8"/>
          </a:solidFill>
          <a:ln w="6350">
            <a:solidFill>
              <a:srgbClr val="C8D6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4242816"/>
            <a:ext cx="1874519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16486F"/>
                </a:solidFill>
                <a:latin typeface="游ゴシック"/>
                <a:ea typeface="游ゴシック"/>
              </a:rPr>
              <a:t>スマホの問い合わせ導線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468880" y="4242816"/>
            <a:ext cx="3108960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C8D6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560320" y="4242816"/>
            <a:ext cx="292608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B7A"/>
                </a:solidFill>
                <a:latin typeface="游ゴシック"/>
                <a:ea typeface="游ゴシック"/>
              </a:rPr>
              <a:t>設置されないことが多い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577840" y="4242816"/>
            <a:ext cx="3108960" cy="603504"/>
          </a:xfrm>
          <a:prstGeom prst="rect">
            <a:avLst/>
          </a:prstGeom>
          <a:solidFill>
            <a:srgbClr val="EAF6F8"/>
          </a:solidFill>
          <a:ln w="6350">
            <a:solidFill>
              <a:srgbClr val="C8D6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669280" y="4242816"/>
            <a:ext cx="292608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1C2733"/>
                </a:solidFill>
                <a:latin typeface="游ゴシック"/>
                <a:ea typeface="游ゴシック"/>
              </a:rPr>
              <a:t>画面下に固定CTAを常時表示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4846320"/>
            <a:ext cx="2011680" cy="603504"/>
          </a:xfrm>
          <a:prstGeom prst="rect">
            <a:avLst/>
          </a:prstGeom>
          <a:solidFill>
            <a:srgbClr val="F4F6F8"/>
          </a:solidFill>
          <a:ln w="6350">
            <a:solidFill>
              <a:srgbClr val="C8D6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4846320"/>
            <a:ext cx="1874519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16486F"/>
                </a:solidFill>
                <a:latin typeface="游ゴシック"/>
                <a:ea typeface="游ゴシック"/>
              </a:rPr>
              <a:t>会社情報の変更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468880" y="4846320"/>
            <a:ext cx="3108960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C8D6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560320" y="4846320"/>
            <a:ext cx="292608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B7A"/>
                </a:solidFill>
                <a:latin typeface="游ゴシック"/>
                <a:ea typeface="游ゴシック"/>
              </a:rPr>
              <a:t>全ページを手作業で修正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577840" y="4846320"/>
            <a:ext cx="3108960" cy="603504"/>
          </a:xfrm>
          <a:prstGeom prst="rect">
            <a:avLst/>
          </a:prstGeom>
          <a:solidFill>
            <a:srgbClr val="EAF6F8"/>
          </a:solidFill>
          <a:ln w="6350">
            <a:solidFill>
              <a:srgbClr val="C8D6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669280" y="4846320"/>
            <a:ext cx="292608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1C2733"/>
                </a:solidFill>
                <a:latin typeface="游ゴシック"/>
                <a:ea typeface="游ゴシック"/>
              </a:rPr>
              <a:t>config.js 1ファイルで全ページ反映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7200" y="5449824"/>
            <a:ext cx="2011680" cy="603504"/>
          </a:xfrm>
          <a:prstGeom prst="rect">
            <a:avLst/>
          </a:prstGeom>
          <a:solidFill>
            <a:srgbClr val="F4F6F8"/>
          </a:solidFill>
          <a:ln w="6350">
            <a:solidFill>
              <a:srgbClr val="C8D6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48640" y="5449824"/>
            <a:ext cx="1874519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16486F"/>
                </a:solidFill>
                <a:latin typeface="游ゴシック"/>
                <a:ea typeface="游ゴシック"/>
              </a:rPr>
              <a:t>アクセス解析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468880" y="5449824"/>
            <a:ext cx="3108960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C8D6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560320" y="5449824"/>
            <a:ext cx="292608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B7A"/>
                </a:solidFill>
                <a:latin typeface="游ゴシック"/>
                <a:ea typeface="游ゴシック"/>
              </a:rPr>
              <a:t>別途設定作業が必要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577840" y="5449824"/>
            <a:ext cx="3108960" cy="603504"/>
          </a:xfrm>
          <a:prstGeom prst="rect">
            <a:avLst/>
          </a:prstGeom>
          <a:solidFill>
            <a:srgbClr val="EAF6F8"/>
          </a:solidFill>
          <a:ln w="6350">
            <a:solidFill>
              <a:srgbClr val="C8D6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669280" y="5449824"/>
            <a:ext cx="292608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1C2733"/>
                </a:solidFill>
                <a:latin typeface="游ゴシック"/>
                <a:ea typeface="游ゴシック"/>
              </a:rPr>
              <a:t>測定IDを入れるだけで計測開始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E89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57200"/>
            <a:ext cx="146304" cy="310896"/>
          </a:xfrm>
          <a:prstGeom prst="rect">
            <a:avLst/>
          </a:prstGeom>
          <a:solidFill>
            <a:srgbClr val="E89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457200"/>
            <a:ext cx="73152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E8923A"/>
                </a:solidFill>
                <a:latin typeface="游ゴシック"/>
                <a:ea typeface="游ゴシック"/>
              </a:rPr>
              <a:t>ADMIN 1 ／ 管理画面の概要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41248"/>
            <a:ext cx="8229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16486F"/>
                </a:solidFill>
                <a:latin typeface="游ゴシック"/>
                <a:ea typeface="游ゴシック"/>
              </a:rPr>
              <a:t>管理画面（admin.html）の開き方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81328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5C6B7A"/>
                </a:solidFill>
                <a:latin typeface="游ゴシック"/>
                <a:ea typeface="游ゴシック"/>
              </a:rPr>
              <a:t>専門知識は不要。ブラウザで開き、パスコードを入れるだけで使えます。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828800"/>
            <a:ext cx="822960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D6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58368" y="2025395"/>
            <a:ext cx="475488" cy="475488"/>
          </a:xfrm>
          <a:prstGeom prst="ellipse">
            <a:avLst/>
          </a:prstGeom>
          <a:solidFill>
            <a:srgbClr val="E89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2025395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游ゴシック"/>
                <a:ea typeface="游ゴシック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1920240"/>
            <a:ext cx="7132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6486F"/>
                </a:solidFill>
                <a:latin typeface="游ゴシック"/>
                <a:ea typeface="游ゴシック"/>
              </a:rPr>
              <a:t>admin.html をブラウザで開く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240280"/>
            <a:ext cx="7178040" cy="4114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5C6B7A"/>
                </a:solidFill>
                <a:latin typeface="游ゴシック"/>
                <a:ea typeface="游ゴシック"/>
              </a:rPr>
              <a:t>サイトのファイル一式の中の admin.html を開きます（検索エンジンには表示されません）。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807208"/>
            <a:ext cx="822960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D6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58368" y="3003804"/>
            <a:ext cx="475488" cy="475488"/>
          </a:xfrm>
          <a:prstGeom prst="ellipse">
            <a:avLst/>
          </a:prstGeom>
          <a:solidFill>
            <a:srgbClr val="E89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3003804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游ゴシック"/>
                <a:ea typeface="游ゴシック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2898648"/>
            <a:ext cx="7132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6486F"/>
                </a:solidFill>
                <a:latin typeface="游ゴシック"/>
                <a:ea typeface="游ゴシック"/>
              </a:rPr>
              <a:t>パスコードを入力してログイン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218688"/>
            <a:ext cx="7178040" cy="4114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5C6B7A"/>
                </a:solidFill>
                <a:latin typeface="游ゴシック"/>
                <a:ea typeface="游ゴシック"/>
              </a:rPr>
              <a:t>初期パスコードは「pipeplant」。assets/admin.js で変更できます。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3785615"/>
            <a:ext cx="822960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D6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58368" y="3982211"/>
            <a:ext cx="475488" cy="475488"/>
          </a:xfrm>
          <a:prstGeom prst="ellipse">
            <a:avLst/>
          </a:prstGeom>
          <a:solidFill>
            <a:srgbClr val="E89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3982211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游ゴシック"/>
                <a:ea typeface="游ゴシック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877055"/>
            <a:ext cx="7132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6486F"/>
                </a:solidFill>
                <a:latin typeface="游ゴシック"/>
                <a:ea typeface="游ゴシック"/>
              </a:rPr>
              <a:t>4つのタブから操作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4197096"/>
            <a:ext cx="7178040" cy="4114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5C6B7A"/>
                </a:solidFill>
                <a:latin typeface="游ゴシック"/>
                <a:ea typeface="游ゴシック"/>
              </a:rPr>
              <a:t>「会社情報」「お知らせ」「施工事例」「公開用書き出し」を切り替えて編集します。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4764023"/>
            <a:ext cx="822960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D6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58368" y="4960619"/>
            <a:ext cx="475488" cy="475488"/>
          </a:xfrm>
          <a:prstGeom prst="ellipse">
            <a:avLst/>
          </a:prstGeom>
          <a:solidFill>
            <a:srgbClr val="E89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" y="4960619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游ゴシック"/>
                <a:ea typeface="游ゴシック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4855463"/>
            <a:ext cx="7132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6486F"/>
                </a:solidFill>
                <a:latin typeface="游ゴシック"/>
                <a:ea typeface="游ゴシック"/>
              </a:rPr>
              <a:t>保存すると公開ページに反映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600" y="5175503"/>
            <a:ext cx="7178040" cy="4114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5C6B7A"/>
                </a:solidFill>
                <a:latin typeface="游ゴシック"/>
                <a:ea typeface="游ゴシック"/>
              </a:rPr>
              <a:t>同じ端末・ブラウザで開いたサイトに即時反映（デモ方式／詳細はADMIN 5）。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E89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57200"/>
            <a:ext cx="146304" cy="310896"/>
          </a:xfrm>
          <a:prstGeom prst="rect">
            <a:avLst/>
          </a:prstGeom>
          <a:solidFill>
            <a:srgbClr val="E89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457200"/>
            <a:ext cx="73152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E8923A"/>
                </a:solidFill>
                <a:latin typeface="游ゴシック"/>
                <a:ea typeface="游ゴシック"/>
              </a:rPr>
              <a:t>ADMIN 2 ／ 会社情報の編集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41248"/>
            <a:ext cx="8229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16486F"/>
                </a:solidFill>
                <a:latin typeface="游ゴシック"/>
                <a:ea typeface="游ゴシック"/>
              </a:rPr>
              <a:t>会社情報を変更する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81328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5C6B7A"/>
                </a:solidFill>
                <a:latin typeface="游ゴシック"/>
                <a:ea typeface="游ゴシック"/>
              </a:rPr>
              <a:t>電話・住所・SNS・地図・フォーム送信先・解析IDをまとめて管理できます。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828800"/>
            <a:ext cx="822960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D6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58368" y="2025395"/>
            <a:ext cx="475488" cy="475488"/>
          </a:xfrm>
          <a:prstGeom prst="ellipse">
            <a:avLst/>
          </a:prstGeom>
          <a:solidFill>
            <a:srgbClr val="E89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2025395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游ゴシック"/>
                <a:ea typeface="游ゴシック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1920240"/>
            <a:ext cx="7132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6486F"/>
                </a:solidFill>
                <a:latin typeface="游ゴシック"/>
                <a:ea typeface="游ゴシック"/>
              </a:rPr>
              <a:t>「会社情報」タブを開く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240280"/>
            <a:ext cx="7178040" cy="4114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5C6B7A"/>
                </a:solidFill>
                <a:latin typeface="游ゴシック"/>
                <a:ea typeface="游ゴシック"/>
              </a:rPr>
              <a:t>電話番号・住所・メール・Instagram・地図URLなどの入力欄が並びます。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807208"/>
            <a:ext cx="822960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D6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58368" y="3003804"/>
            <a:ext cx="475488" cy="475488"/>
          </a:xfrm>
          <a:prstGeom prst="ellipse">
            <a:avLst/>
          </a:prstGeom>
          <a:solidFill>
            <a:srgbClr val="E89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3003804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游ゴシック"/>
                <a:ea typeface="游ゴシック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2898648"/>
            <a:ext cx="7132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6486F"/>
                </a:solidFill>
                <a:latin typeface="游ゴシック"/>
                <a:ea typeface="游ゴシック"/>
              </a:rPr>
              <a:t>値を入力して「保存する」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218688"/>
            <a:ext cx="7178040" cy="4114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5C6B7A"/>
                </a:solidFill>
                <a:latin typeface="游ゴシック"/>
                <a:ea typeface="游ゴシック"/>
              </a:rPr>
              <a:t>保存すると、全ページの該当箇所（電話リンク・住所・フッター等）へ自動反映。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3785615"/>
            <a:ext cx="822960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D6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58368" y="3982211"/>
            <a:ext cx="475488" cy="475488"/>
          </a:xfrm>
          <a:prstGeom prst="ellipse">
            <a:avLst/>
          </a:prstGeom>
          <a:solidFill>
            <a:srgbClr val="E89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3982211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游ゴシック"/>
                <a:ea typeface="游ゴシック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877055"/>
            <a:ext cx="7132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6486F"/>
                </a:solidFill>
                <a:latin typeface="游ゴシック"/>
                <a:ea typeface="游ゴシック"/>
              </a:rPr>
              <a:t>地図・SNSは入力で自動表示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4197096"/>
            <a:ext cx="7178040" cy="4114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5C6B7A"/>
                </a:solidFill>
                <a:latin typeface="游ゴシック"/>
                <a:ea typeface="游ゴシック"/>
              </a:rPr>
              <a:t>Googleマップ埋め込みURL／Instagram URLを入れると、地図表示・リンクが有効化。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4764023"/>
            <a:ext cx="822960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D6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58368" y="4960619"/>
            <a:ext cx="475488" cy="475488"/>
          </a:xfrm>
          <a:prstGeom prst="ellipse">
            <a:avLst/>
          </a:prstGeom>
          <a:solidFill>
            <a:srgbClr val="E89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" y="4960619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游ゴシック"/>
                <a:ea typeface="游ゴシック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4855463"/>
            <a:ext cx="7132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6486F"/>
                </a:solidFill>
                <a:latin typeface="游ゴシック"/>
                <a:ea typeface="游ゴシック"/>
              </a:rPr>
              <a:t>元に戻すには「初期値に戻す」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600" y="5175503"/>
            <a:ext cx="7178040" cy="4114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5C6B7A"/>
                </a:solidFill>
                <a:latin typeface="游ゴシック"/>
                <a:ea typeface="游ゴシック"/>
              </a:rPr>
              <a:t>config.js の初期値に戻せます（保存内容のみ消去）。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E89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57200"/>
            <a:ext cx="146304" cy="310896"/>
          </a:xfrm>
          <a:prstGeom prst="rect">
            <a:avLst/>
          </a:prstGeom>
          <a:solidFill>
            <a:srgbClr val="E89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457200"/>
            <a:ext cx="73152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E8923A"/>
                </a:solidFill>
                <a:latin typeface="游ゴシック"/>
                <a:ea typeface="游ゴシック"/>
              </a:rPr>
              <a:t>ADMIN 3 ／ お知らせの管理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41248"/>
            <a:ext cx="8229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16486F"/>
                </a:solidFill>
                <a:latin typeface="游ゴシック"/>
                <a:ea typeface="游ゴシック"/>
              </a:rPr>
              <a:t>お知らせを追加・編集・削除する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81328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5C6B7A"/>
                </a:solidFill>
                <a:latin typeface="游ゴシック"/>
                <a:ea typeface="游ゴシック"/>
              </a:rPr>
              <a:t>トップpage（最新3件）と「お知らせ」ページに自動掲載されます。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828800"/>
            <a:ext cx="822960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D6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58368" y="2025395"/>
            <a:ext cx="475488" cy="475488"/>
          </a:xfrm>
          <a:prstGeom prst="ellipse">
            <a:avLst/>
          </a:prstGeom>
          <a:solidFill>
            <a:srgbClr val="E89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2025395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游ゴシック"/>
                <a:ea typeface="游ゴシック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1920240"/>
            <a:ext cx="7132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6486F"/>
                </a:solidFill>
                <a:latin typeface="游ゴシック"/>
                <a:ea typeface="游ゴシック"/>
              </a:rPr>
              <a:t>「お知らせ」タブで一覧を確認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240280"/>
            <a:ext cx="7178040" cy="4114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5C6B7A"/>
                </a:solidFill>
                <a:latin typeface="游ゴシック"/>
                <a:ea typeface="游ゴシック"/>
              </a:rPr>
              <a:t>登録済みのお知らせが新しい順に並びます。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807208"/>
            <a:ext cx="822960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D6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58368" y="3003804"/>
            <a:ext cx="475488" cy="475488"/>
          </a:xfrm>
          <a:prstGeom prst="ellipse">
            <a:avLst/>
          </a:prstGeom>
          <a:solidFill>
            <a:srgbClr val="E89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3003804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游ゴシック"/>
                <a:ea typeface="游ゴシック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2898648"/>
            <a:ext cx="7132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6486F"/>
                </a:solidFill>
                <a:latin typeface="游ゴシック"/>
                <a:ea typeface="游ゴシック"/>
              </a:rPr>
              <a:t>フォームに入力して「追加する」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218688"/>
            <a:ext cx="7178040" cy="4114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5C6B7A"/>
                </a:solidFill>
                <a:latin typeface="游ゴシック"/>
                <a:ea typeface="游ゴシック"/>
              </a:rPr>
              <a:t>日付（空なら当日）・種類・見出し・本文・リンクを入力。先頭に追加されます。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3785615"/>
            <a:ext cx="822960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D6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58368" y="3982211"/>
            <a:ext cx="475488" cy="475488"/>
          </a:xfrm>
          <a:prstGeom prst="ellipse">
            <a:avLst/>
          </a:prstGeom>
          <a:solidFill>
            <a:srgbClr val="E89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3982211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游ゴシック"/>
                <a:ea typeface="游ゴシック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877055"/>
            <a:ext cx="7132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6486F"/>
                </a:solidFill>
                <a:latin typeface="游ゴシック"/>
                <a:ea typeface="游ゴシック"/>
              </a:rPr>
              <a:t>編集・削除・並べ替え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4197096"/>
            <a:ext cx="7178040" cy="4114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5C6B7A"/>
                </a:solidFill>
                <a:latin typeface="游ゴシック"/>
                <a:ea typeface="游ゴシック"/>
              </a:rPr>
              <a:t>各項目の「編集」「削除」「↑」で内容修正・削除・順番変更ができます。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4764023"/>
            <a:ext cx="822960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D6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58368" y="4960619"/>
            <a:ext cx="475488" cy="475488"/>
          </a:xfrm>
          <a:prstGeom prst="ellipse">
            <a:avLst/>
          </a:prstGeom>
          <a:solidFill>
            <a:srgbClr val="E89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" y="4960619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游ゴシック"/>
                <a:ea typeface="游ゴシック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4855463"/>
            <a:ext cx="7132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6486F"/>
                </a:solidFill>
                <a:latin typeface="游ゴシック"/>
                <a:ea typeface="游ゴシック"/>
              </a:rPr>
              <a:t>公開ページで自動表示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600" y="5175503"/>
            <a:ext cx="7178040" cy="4114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5C6B7A"/>
                </a:solidFill>
                <a:latin typeface="游ゴシック"/>
                <a:ea typeface="游ゴシック"/>
              </a:rPr>
              <a:t>保存後、トップと news.html に即反映されます。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E89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57200"/>
            <a:ext cx="146304" cy="310896"/>
          </a:xfrm>
          <a:prstGeom prst="rect">
            <a:avLst/>
          </a:prstGeom>
          <a:solidFill>
            <a:srgbClr val="E89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457200"/>
            <a:ext cx="73152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E8923A"/>
                </a:solidFill>
                <a:latin typeface="游ゴシック"/>
                <a:ea typeface="游ゴシック"/>
              </a:rPr>
              <a:t>ADMIN 4 ／ 施工事例の管理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41248"/>
            <a:ext cx="8229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16486F"/>
                </a:solidFill>
                <a:latin typeface="游ゴシック"/>
                <a:ea typeface="游ゴシック"/>
              </a:rPr>
              <a:t>施工事例を写真付きで追加する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81328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5C6B7A"/>
                </a:solidFill>
                <a:latin typeface="游ゴシック"/>
                <a:ea typeface="游ゴシック"/>
              </a:rPr>
              <a:t>登録すると「施工事例」ページ（works.html）のギャラリーに反映されます。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828800"/>
            <a:ext cx="822960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D6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58368" y="2025395"/>
            <a:ext cx="475488" cy="475488"/>
          </a:xfrm>
          <a:prstGeom prst="ellipse">
            <a:avLst/>
          </a:prstGeom>
          <a:solidFill>
            <a:srgbClr val="E89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2025395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游ゴシック"/>
                <a:ea typeface="游ゴシック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1920240"/>
            <a:ext cx="7132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6486F"/>
                </a:solidFill>
                <a:latin typeface="游ゴシック"/>
                <a:ea typeface="游ゴシック"/>
              </a:rPr>
              <a:t>「施工事例」タブを開く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240280"/>
            <a:ext cx="7178040" cy="4114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5C6B7A"/>
                </a:solidFill>
                <a:latin typeface="游ゴシック"/>
                <a:ea typeface="游ゴシック"/>
              </a:rPr>
              <a:t>カテゴリ・工事名・説明・タグ・写真を入力するフォームがあります。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807208"/>
            <a:ext cx="822960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D6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58368" y="3003804"/>
            <a:ext cx="475488" cy="475488"/>
          </a:xfrm>
          <a:prstGeom prst="ellipse">
            <a:avLst/>
          </a:prstGeom>
          <a:solidFill>
            <a:srgbClr val="E89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3003804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游ゴシック"/>
                <a:ea typeface="游ゴシック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2898648"/>
            <a:ext cx="7132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6486F"/>
                </a:solidFill>
                <a:latin typeface="游ゴシック"/>
                <a:ea typeface="游ゴシック"/>
              </a:rPr>
              <a:t>写真を選ぶと自動で縮小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218688"/>
            <a:ext cx="7178040" cy="4114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5C6B7A"/>
                </a:solidFill>
                <a:latin typeface="游ゴシック"/>
                <a:ea typeface="游ゴシック"/>
              </a:rPr>
              <a:t>大きな写真もブラウザ内で自動的に軽くしてから保存します。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3785615"/>
            <a:ext cx="822960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D6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58368" y="3982211"/>
            <a:ext cx="475488" cy="475488"/>
          </a:xfrm>
          <a:prstGeom prst="ellipse">
            <a:avLst/>
          </a:prstGeom>
          <a:solidFill>
            <a:srgbClr val="E89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3982211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游ゴシック"/>
                <a:ea typeface="游ゴシック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877055"/>
            <a:ext cx="7132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6486F"/>
                </a:solidFill>
                <a:latin typeface="游ゴシック"/>
                <a:ea typeface="游ゴシック"/>
              </a:rPr>
              <a:t>「追加する」で登録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4197096"/>
            <a:ext cx="7178040" cy="4114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5C6B7A"/>
                </a:solidFill>
                <a:latin typeface="游ゴシック"/>
                <a:ea typeface="游ゴシック"/>
              </a:rPr>
              <a:t>入力後に追加。施工事例ページのカードとして表示されます。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4764023"/>
            <a:ext cx="822960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D6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58368" y="4960619"/>
            <a:ext cx="475488" cy="475488"/>
          </a:xfrm>
          <a:prstGeom prst="ellipse">
            <a:avLst/>
          </a:prstGeom>
          <a:solidFill>
            <a:srgbClr val="E89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" y="4960619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游ゴシック"/>
                <a:ea typeface="游ゴシック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4855463"/>
            <a:ext cx="7132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6486F"/>
                </a:solidFill>
                <a:latin typeface="游ゴシック"/>
                <a:ea typeface="游ゴシック"/>
              </a:rPr>
              <a:t>削除もワンクリック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600" y="5175503"/>
            <a:ext cx="7178040" cy="4114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5C6B7A"/>
                </a:solidFill>
                <a:latin typeface="游ゴシック"/>
                <a:ea typeface="游ゴシック"/>
              </a:rPr>
              <a:t>一覧の「削除」で取り下げできます。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E89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57200"/>
            <a:ext cx="146304" cy="310896"/>
          </a:xfrm>
          <a:prstGeom prst="rect">
            <a:avLst/>
          </a:prstGeom>
          <a:solidFill>
            <a:srgbClr val="E89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457200"/>
            <a:ext cx="73152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E8923A"/>
                </a:solidFill>
                <a:latin typeface="游ゴシック"/>
                <a:ea typeface="游ゴシック"/>
              </a:rPr>
              <a:t>ADMIN 5 ／ 公開反映と注意点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41248"/>
            <a:ext cx="8229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16486F"/>
                </a:solidFill>
                <a:latin typeface="游ゴシック"/>
                <a:ea typeface="游ゴシック"/>
              </a:rPr>
              <a:t>変更を“全員に”反映する方法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81328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5C6B7A"/>
                </a:solidFill>
                <a:latin typeface="游ゴシック"/>
                <a:ea typeface="游ゴシック"/>
              </a:rPr>
              <a:t>デモ版の保存は「その端末内」での反映です。全公開には書き出しファイルの設置が必要です。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828800"/>
            <a:ext cx="822960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D6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58368" y="2025395"/>
            <a:ext cx="475488" cy="475488"/>
          </a:xfrm>
          <a:prstGeom prst="ellipse">
            <a:avLst/>
          </a:prstGeom>
          <a:solidFill>
            <a:srgbClr val="E89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2025395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游ゴシック"/>
                <a:ea typeface="游ゴシック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1920240"/>
            <a:ext cx="7132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6486F"/>
                </a:solidFill>
                <a:latin typeface="游ゴシック"/>
                <a:ea typeface="游ゴシック"/>
              </a:rPr>
              <a:t>デモ方式の仕組みを理解する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240280"/>
            <a:ext cx="7178040" cy="4114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5C6B7A"/>
                </a:solidFill>
                <a:latin typeface="游ゴシック"/>
                <a:ea typeface="游ゴシック"/>
              </a:rPr>
              <a:t>管理画面の保存はブラウザ内（localStorage）。閲覧者全員には自動共有されません。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807208"/>
            <a:ext cx="822960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D6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58368" y="3003804"/>
            <a:ext cx="475488" cy="475488"/>
          </a:xfrm>
          <a:prstGeom prst="ellipse">
            <a:avLst/>
          </a:prstGeom>
          <a:solidFill>
            <a:srgbClr val="E89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3003804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游ゴシック"/>
                <a:ea typeface="游ゴシック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2898648"/>
            <a:ext cx="7132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6486F"/>
                </a:solidFill>
                <a:latin typeface="游ゴシック"/>
                <a:ea typeface="游ゴシック"/>
              </a:rPr>
              <a:t>公開用ファイルを書き出す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218688"/>
            <a:ext cx="7178040" cy="4114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5C6B7A"/>
                </a:solidFill>
                <a:latin typeface="游ゴシック"/>
                <a:ea typeface="游ゴシック"/>
              </a:rPr>
              <a:t>「公開用書き出し」タブで config.js / news.js / works.js をダウンロード。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3785615"/>
            <a:ext cx="822960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D6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58368" y="3982211"/>
            <a:ext cx="475488" cy="475488"/>
          </a:xfrm>
          <a:prstGeom prst="ellipse">
            <a:avLst/>
          </a:prstGeom>
          <a:solidFill>
            <a:srgbClr val="E89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3982211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游ゴシック"/>
                <a:ea typeface="游ゴシック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877055"/>
            <a:ext cx="7132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6486F"/>
                </a:solidFill>
                <a:latin typeface="游ゴシック"/>
                <a:ea typeface="游ゴシック"/>
              </a:rPr>
              <a:t>サーバーの assets/ に設置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4197096"/>
            <a:ext cx="7178040" cy="4114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5C6B7A"/>
                </a:solidFill>
                <a:latin typeface="游ゴシック"/>
                <a:ea typeface="游ゴシック"/>
              </a:rPr>
              <a:t>書き出したファイルをサーバーへ上書きすると、全員の画面に反映されます。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4764023"/>
            <a:ext cx="822960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D6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58368" y="4960619"/>
            <a:ext cx="475488" cy="475488"/>
          </a:xfrm>
          <a:prstGeom prst="ellipse">
            <a:avLst/>
          </a:prstGeom>
          <a:solidFill>
            <a:srgbClr val="E89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" y="4960619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游ゴシック"/>
                <a:ea typeface="游ゴシック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4855463"/>
            <a:ext cx="7132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6486F"/>
                </a:solidFill>
                <a:latin typeface="游ゴシック"/>
                <a:ea typeface="游ゴシック"/>
              </a:rPr>
              <a:t>本番は CMS／サーバ化を推奨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600" y="5175503"/>
            <a:ext cx="7178040" cy="4114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5C6B7A"/>
                </a:solidFill>
                <a:latin typeface="游ゴシック"/>
                <a:ea typeface="游ゴシック"/>
              </a:rPr>
              <a:t>常時・全員反映の運用には、サーバー型の管理機構への移行が確実です。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473952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C6B7A"/>
                </a:solidFill>
                <a:latin typeface="游ゴシック"/>
                <a:ea typeface="游ゴシック"/>
              </a:rPr>
              <a:t>※ works.js を使う場合は works.html に読み込みタグの追加が必要です（設置手順書に記載）。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E89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57200"/>
            <a:ext cx="146304" cy="310896"/>
          </a:xfrm>
          <a:prstGeom prst="rect">
            <a:avLst/>
          </a:prstGeom>
          <a:solidFill>
            <a:srgbClr val="E89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457200"/>
            <a:ext cx="73152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E8923A"/>
                </a:solidFill>
                <a:latin typeface="游ゴシック"/>
                <a:ea typeface="游ゴシック"/>
              </a:rPr>
              <a:t>OPERATION ／ 操作手順書（まとめ）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41248"/>
            <a:ext cx="8229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16486F"/>
                </a:solidFill>
                <a:latin typeface="游ゴシック"/>
                <a:ea typeface="游ゴシック"/>
              </a:rPr>
              <a:t>日常の運用フロー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81328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5C6B7A"/>
                </a:solidFill>
                <a:latin typeface="游ゴシック"/>
                <a:ea typeface="游ゴシック"/>
              </a:rPr>
              <a:t>ふだんの更新は、管理画面の3操作だけ。月1回程度の更新でも“動いている会社”を発信できます。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828800"/>
            <a:ext cx="8229600" cy="896112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C8D6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58368" y="2029968"/>
            <a:ext cx="493776" cy="493776"/>
          </a:xfrm>
          <a:prstGeom prst="roundRect">
            <a:avLst/>
          </a:prstGeom>
          <a:solidFill>
            <a:srgbClr val="1648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58368" y="2029968"/>
            <a:ext cx="493776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游ゴシック"/>
                <a:ea typeface="游ゴシック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1920240"/>
            <a:ext cx="7132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16486F"/>
                </a:solidFill>
                <a:latin typeface="游ゴシック"/>
                <a:ea typeface="游ゴシック"/>
              </a:rPr>
              <a:t>お知らせを出す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249424"/>
            <a:ext cx="717804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5C6B7A"/>
                </a:solidFill>
                <a:latin typeface="游ゴシック"/>
                <a:ea typeface="游ゴシック"/>
              </a:rPr>
              <a:t>新しい受注・施工完了・採用情報などを「お知らせ」タブから投稿。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779776"/>
            <a:ext cx="8229600" cy="896112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C8D6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58368" y="2980944"/>
            <a:ext cx="493776" cy="493776"/>
          </a:xfrm>
          <a:prstGeom prst="roundRect">
            <a:avLst/>
          </a:prstGeom>
          <a:solidFill>
            <a:srgbClr val="1648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58368" y="2980944"/>
            <a:ext cx="493776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游ゴシック"/>
                <a:ea typeface="游ゴシック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2871216"/>
            <a:ext cx="7132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16486F"/>
                </a:solidFill>
                <a:latin typeface="游ゴシック"/>
                <a:ea typeface="游ゴシック"/>
              </a:rPr>
              <a:t>施工事例を増やす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200400"/>
            <a:ext cx="717804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5C6B7A"/>
                </a:solidFill>
                <a:latin typeface="游ゴシック"/>
                <a:ea typeface="游ゴシック"/>
              </a:rPr>
              <a:t>完了した工事を写真付きで「施工事例」タブから登録。実績が積み上がる。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3730752"/>
            <a:ext cx="8229600" cy="896112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C8D6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58368" y="3931920"/>
            <a:ext cx="493776" cy="493776"/>
          </a:xfrm>
          <a:prstGeom prst="roundRect">
            <a:avLst/>
          </a:prstGeom>
          <a:solidFill>
            <a:srgbClr val="1648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58368" y="3931920"/>
            <a:ext cx="493776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游ゴシック"/>
                <a:ea typeface="游ゴシック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822191"/>
            <a:ext cx="7132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16486F"/>
                </a:solidFill>
                <a:latin typeface="游ゴシック"/>
                <a:ea typeface="游ゴシック"/>
              </a:rPr>
              <a:t>会社情報を最新に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4151376"/>
            <a:ext cx="717804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5C6B7A"/>
                </a:solidFill>
                <a:latin typeface="游ゴシック"/>
                <a:ea typeface="游ゴシック"/>
              </a:rPr>
              <a:t>電話・住所・SNS・地図の変更は「会社情報」タブで保存。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4681728"/>
            <a:ext cx="8229600" cy="896112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C8D6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58368" y="4882896"/>
            <a:ext cx="493776" cy="493776"/>
          </a:xfrm>
          <a:prstGeom prst="roundRect">
            <a:avLst/>
          </a:prstGeom>
          <a:solidFill>
            <a:srgbClr val="1648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658368" y="4882896"/>
            <a:ext cx="493776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游ゴシック"/>
                <a:ea typeface="游ゴシック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4773168"/>
            <a:ext cx="7132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16486F"/>
                </a:solidFill>
                <a:latin typeface="游ゴシック"/>
                <a:ea typeface="游ゴシック"/>
              </a:rPr>
              <a:t>必要時に公開反映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600" y="5102352"/>
            <a:ext cx="717804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5C6B7A"/>
                </a:solidFill>
                <a:latin typeface="游ゴシック"/>
                <a:ea typeface="游ゴシック"/>
              </a:rPr>
              <a:t>全員へ反映したい時は「公開用書き出し」→ サーバーへ設置（または制作者へ依頼）。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B2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E89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8046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游ゴシック"/>
                <a:ea typeface="游ゴシック"/>
              </a:rPr>
              <a:t>まとめ ／ 本番公開の前に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1371600"/>
            <a:ext cx="457200" cy="457200"/>
          </a:xfrm>
          <a:prstGeom prst="ellipse">
            <a:avLst/>
          </a:prstGeom>
          <a:solidFill>
            <a:srgbClr val="E89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游ゴシック"/>
                <a:ea typeface="游ゴシック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1335024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游ゴシック"/>
                <a:ea typeface="游ゴシック"/>
              </a:rPr>
              <a:t>実ドメインへ差し替え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1700784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CFE0EC"/>
                </a:solidFill>
                <a:latin typeface="游ゴシック"/>
                <a:ea typeface="游ゴシック"/>
              </a:rPr>
              <a:t>config.js の siteUrl と sitemap.xml / robots.txt の仮URLを実URLに変更。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2286000"/>
            <a:ext cx="457200" cy="457200"/>
          </a:xfrm>
          <a:prstGeom prst="ellipse">
            <a:avLst/>
          </a:prstGeom>
          <a:solidFill>
            <a:srgbClr val="E89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28600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游ゴシック"/>
                <a:ea typeface="游ゴシック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2249424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游ゴシック"/>
                <a:ea typeface="游ゴシック"/>
              </a:rPr>
              <a:t>フォーム送信先を接続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2615184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CFE0EC"/>
                </a:solidFill>
                <a:latin typeface="游ゴシック"/>
                <a:ea typeface="游ゴシック"/>
              </a:rPr>
              <a:t>管理画面でメール or Formspree等の送信先を設定（未設定時はメール起動）。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3200400"/>
            <a:ext cx="457200" cy="457200"/>
          </a:xfrm>
          <a:prstGeom prst="ellipse">
            <a:avLst/>
          </a:prstGeom>
          <a:solidFill>
            <a:srgbClr val="E89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20040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游ゴシック"/>
                <a:ea typeface="游ゴシック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3163824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游ゴシック"/>
                <a:ea typeface="游ゴシック"/>
              </a:rPr>
              <a:t>管理機能のサーバー化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3529584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CFE0EC"/>
                </a:solidFill>
                <a:latin typeface="游ゴシック"/>
                <a:ea typeface="游ゴシック"/>
              </a:rPr>
              <a:t>全員・常時反映にはCMS／サーバ型へ移行（デモは端末内保存）。</a:t>
            </a:r>
          </a:p>
        </p:txBody>
      </p:sp>
      <p:sp>
        <p:nvSpPr>
          <p:cNvPr id="17" name="Oval 16"/>
          <p:cNvSpPr/>
          <p:nvPr/>
        </p:nvSpPr>
        <p:spPr>
          <a:xfrm>
            <a:off x="548640" y="4114800"/>
            <a:ext cx="457200" cy="457200"/>
          </a:xfrm>
          <a:prstGeom prst="ellipse">
            <a:avLst/>
          </a:prstGeom>
          <a:solidFill>
            <a:srgbClr val="E89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411480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游ゴシック"/>
                <a:ea typeface="游ゴシック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4078224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游ゴシック"/>
                <a:ea typeface="游ゴシック"/>
              </a:rPr>
              <a:t>Google登録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4443984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CFE0EC"/>
                </a:solidFill>
                <a:latin typeface="游ゴシック"/>
                <a:ea typeface="游ゴシック"/>
              </a:rPr>
              <a:t>Search Console＋ビジネスプロフィールに登録し sitemap を送信。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5486400"/>
            <a:ext cx="8046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3FB6C7"/>
                </a:solidFill>
                <a:latin typeface="游ゴシック"/>
                <a:ea typeface="游ゴシック"/>
              </a:rPr>
              <a:t>このサイトは“育てる”前提の設計です。更新の積み重ねが、問い合わせと信頼につながります。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355080"/>
            <a:ext cx="8046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9FC3DC"/>
                </a:solidFill>
                <a:latin typeface="游ゴシック"/>
                <a:ea typeface="游ゴシック"/>
              </a:rPr>
              <a:t>株式会社パイプラント 公式サイト 解説書＆運用マニュアル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パイプラント様 HP改修 施策提案書</dc:title>
  <dc:subject>PptxGenJS Presentation</dc:subject>
  <dc:creator>PptxGenJS</dc:creator>
  <cp:lastModifiedBy>PptxGenJS</cp:lastModifiedBy>
  <cp:revision>1</cp:revision>
  <dcterms:created xsi:type="dcterms:W3CDTF">2026-06-11T19:45:29Z</dcterms:created>
  <dcterms:modified xsi:type="dcterms:W3CDTF">2026-06-11T19:45:29Z</dcterms:modified>
</cp:coreProperties>
</file>